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  <p:sldId id="271" r:id="rId16"/>
    <p:sldId id="268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20" r:id="rId55"/>
    <p:sldId id="321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CF177-67DA-4724-96D9-6D3EC215A820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AC2BA-F3D4-4BCA-9C74-1191513EA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14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AC2BA-F3D4-4BCA-9C74-1191513EAE66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647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67D1-2FD2-20D9-FF2F-941192E5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4C610-541D-493C-D6F8-165D2352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7C87C-6CEA-DAF7-ED67-67F0FC5D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08CC5-419E-4B3B-F246-1F2C34BE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B5F94-6E03-9C28-7F2E-704A7D5C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93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5A510-CBA2-AAC5-ADBE-80F1B993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51FC-AA7D-A88E-6414-D48D01420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E17A7-3466-FFF0-6C18-CBD6CC96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EF91-3E2B-78B1-64DD-66CB8D98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4AC05-D489-C5A7-7F61-6B8FC048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52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2B16-7ADE-4ADF-3FB4-96A5DD49A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606C5-15E8-37CA-E501-C1C7AE5DC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8F18-1974-C683-D31D-C6D05782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7C848-2A69-4BAA-3B03-E7B23FE0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DEF5-20C3-D80A-CB0F-4F60D0CB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74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82D3-3E3D-C4B3-2E69-79E4FEDD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5A7B-5C83-DEE6-53A7-55154C1FB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509F1-4F9A-CBE4-9903-E8B76E1F4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4720E-DB65-7482-9545-EE5D1A29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EC8F4-BD21-5E22-C4B7-E09E1F53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0E8D7-15B7-DAEC-6ED4-CC119D14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18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D2E3-0C16-2AFF-D0E4-6CE61135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12A58-F61C-E596-22E9-6D80F0A90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F8D1A-F980-973A-093E-BC340D83C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8EDC8-53B9-4C4A-71E3-591BC59F0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0DF83-E6CB-6ADF-4515-731AA6029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A3286-5FAD-74A3-D50F-5F39E26D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014117-7764-0059-B6A5-B80DAE365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1EA4A-F997-606F-8E87-07A8B0B4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23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30CB-B875-7906-B2A7-1C0F43D8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AF7E7-0F6A-7346-498F-6790AE81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3D99E-E6B9-3083-B547-C5F2028B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E27C1-10EE-E0FC-D40F-0E97D1A7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1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337C20-B868-EBE0-9267-2287B2E8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96078-F94A-7235-B365-808B786D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313E7-DA2C-C921-ABB1-7E655221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5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D15A-EBE4-7E63-3301-F39EBA619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1CB7-B417-20F2-050B-32D2D7F02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D2711-C3D6-72C9-3F6E-2E56E29C4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08C63-A983-A466-226A-88919A1E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1582-84B5-FB08-B1AA-5DB221E98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9221A-46F3-C395-7663-6C61EA1B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47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CD93-8AE4-61CA-44F1-E3B7BCA70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09630-C8F1-01CB-BD7B-A5815AF99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7FD32-6735-2056-B5EA-6E8C5BFA1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13DE6-5686-DC4D-EBFF-9A53D3AD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73-2AF4-C303-9192-51A57180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8DB65-9BF3-CD0F-1B8B-CA9635774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7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AC82-93A8-47D0-EACC-C1C0DD5A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6A982-F065-AE7C-1664-EC52942D6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4C7DF-6F92-A8A7-EECF-DF748693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D0854-3BC3-6107-4A85-B33A0FFB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DCC1C-792A-49DF-7D64-9FFAF6AD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8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3547AB-BD2B-5F3F-1B52-10162B63C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5BE19-0F2C-EF0A-C1B3-3A3AB7B99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A144-23CF-5772-CA34-9B946F35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4432B-D2EC-7214-E3F3-E0948115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0D8E-EE98-FF07-9396-B78E863F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59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59BAD-CF52-3EF3-4B1D-911FFBDB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CAA8-1C69-DBD1-839D-45B776369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88C35-6E09-7F6D-0A0C-A4994E09B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35244-5D04-4C32-A7B4-00A4986176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4DCEC-DD01-9FF3-9A2C-1643CE789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BAA37-7B00-BB9A-28B4-4E0C23083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5B043-E026-40EC-8339-437874D73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4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language-reference/builtin-types/bool" TargetMode="External"/><Relationship Id="rId2" Type="http://schemas.openxmlformats.org/officeDocument/2006/relationships/hyperlink" Target="https://learn.microsoft.com/en-us/dotnet/csharp/language-reference/builtin-types/integral-numeric-type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EFCA-6E61-2DAE-5BC5-691FDCE14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1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E8757-F0EA-671E-D610-E82D139BEE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i="1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C#</a:t>
            </a:r>
          </a:p>
        </p:txBody>
      </p:sp>
    </p:spTree>
    <p:extLst>
      <p:ext uri="{BB962C8B-B14F-4D97-AF65-F5344CB8AC3E}">
        <p14:creationId xmlns:p14="http://schemas.microsoft.com/office/powerpoint/2010/main" val="252521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01EC-E28D-8E06-0EAC-19FD5EBA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02BFA-E87A-65F9-0DCC-D79C885E6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is as a "C-Sharp".</a:t>
            </a:r>
          </a:p>
          <a:p>
            <a:r>
              <a:rPr lang="en-US" dirty="0"/>
              <a:t>C# was developed by </a:t>
            </a:r>
            <a:r>
              <a:rPr lang="en-US" b="1" dirty="0"/>
              <a:t>Microsoft</a:t>
            </a:r>
            <a:r>
              <a:rPr lang="en-US" dirty="0"/>
              <a:t> under the team of </a:t>
            </a:r>
            <a:r>
              <a:rPr lang="en-US" b="1" dirty="0"/>
              <a:t>Anders Hejlsberg</a:t>
            </a:r>
            <a:r>
              <a:rPr lang="en-US" dirty="0"/>
              <a:t>.</a:t>
            </a:r>
          </a:p>
          <a:p>
            <a:r>
              <a:rPr lang="en-US" dirty="0"/>
              <a:t>C# is a </a:t>
            </a:r>
            <a:r>
              <a:rPr lang="en-US" b="1" dirty="0"/>
              <a:t>modern, versatile, and object-oriented </a:t>
            </a:r>
            <a:r>
              <a:rPr lang="en-US" dirty="0"/>
              <a:t>programming language.</a:t>
            </a:r>
          </a:p>
          <a:p>
            <a:r>
              <a:rPr lang="en-US" dirty="0"/>
              <a:t>C# is  created by Microsoft in the year 2000 as a part of the </a:t>
            </a:r>
            <a:r>
              <a:rPr lang="en-US" dirty="0" err="1"/>
              <a:t>.Net</a:t>
            </a:r>
            <a:r>
              <a:rPr lang="en-US" dirty="0"/>
              <a:t> Framework. </a:t>
            </a:r>
          </a:p>
          <a:p>
            <a:r>
              <a:rPr lang="en-US" dirty="0"/>
              <a:t>C# was officially released in November 2002, along with the first version of the .NET Framework.</a:t>
            </a:r>
          </a:p>
        </p:txBody>
      </p:sp>
    </p:spTree>
    <p:extLst>
      <p:ext uri="{BB962C8B-B14F-4D97-AF65-F5344CB8AC3E}">
        <p14:creationId xmlns:p14="http://schemas.microsoft.com/office/powerpoint/2010/main" val="93270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6F29A-FC3F-5253-8751-842AD0E30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245"/>
            <a:ext cx="10515600" cy="5370718"/>
          </a:xfrm>
        </p:spPr>
        <p:txBody>
          <a:bodyPr/>
          <a:lstStyle/>
          <a:p>
            <a:r>
              <a:rPr lang="en-US" dirty="0"/>
              <a:t>Key objectives of C# is like,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53609C-3A30-3419-0D9A-77D7DA786C7E}"/>
              </a:ext>
            </a:extLst>
          </p:cNvPr>
          <p:cNvSpPr/>
          <p:nvPr/>
        </p:nvSpPr>
        <p:spPr>
          <a:xfrm>
            <a:off x="2448232" y="1704567"/>
            <a:ext cx="3991896" cy="2936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Easy to learn and use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Object oriented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Versatile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Auto memory management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Cross platform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Microsoft integration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64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ED06-AB93-C7BA-1D51-BFA4668FD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 of C#: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5AC3E-68C3-15F3-C0F4-135887568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489"/>
            <a:ext cx="10515600" cy="4952385"/>
          </a:xfrm>
        </p:spPr>
        <p:txBody>
          <a:bodyPr/>
          <a:lstStyle/>
          <a:p>
            <a:r>
              <a:rPr lang="en-IN" dirty="0"/>
              <a:t>There are several key features of C# programming language which makes and create effective application.</a:t>
            </a:r>
          </a:p>
          <a:p>
            <a:r>
              <a:rPr lang="en-IN" dirty="0"/>
              <a:t>Features like that,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E8529-4C18-C2E0-485E-B7D43FF8C81C}"/>
              </a:ext>
            </a:extLst>
          </p:cNvPr>
          <p:cNvSpPr/>
          <p:nvPr/>
        </p:nvSpPr>
        <p:spPr>
          <a:xfrm>
            <a:off x="2467897" y="2866052"/>
            <a:ext cx="5338916" cy="3510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Simple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Modern programming language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Object-oriented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Type safe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Interoperability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Scalable and Updateable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Component-oriented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Structured programming language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Rich Library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Fast speed</a:t>
            </a:r>
          </a:p>
        </p:txBody>
      </p:sp>
    </p:spTree>
    <p:extLst>
      <p:ext uri="{BB962C8B-B14F-4D97-AF65-F5344CB8AC3E}">
        <p14:creationId xmlns:p14="http://schemas.microsoft.com/office/powerpoint/2010/main" val="141895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5B91-5B84-7B59-E08B-7F5B0A1DC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128"/>
            <a:ext cx="10515600" cy="665643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</a:rPr>
              <a:t>Simple:</a:t>
            </a:r>
          </a:p>
          <a:p>
            <a:pPr lvl="1"/>
            <a:r>
              <a:rPr lang="en-US" dirty="0"/>
              <a:t>C# is a simple programming language because it is </a:t>
            </a:r>
            <a:r>
              <a:rPr lang="en-US" b="1" dirty="0"/>
              <a:t>easy to learn, write, and understand.</a:t>
            </a:r>
          </a:p>
          <a:p>
            <a:pPr lvl="1"/>
            <a:r>
              <a:rPr lang="en-US" dirty="0"/>
              <a:t>And also, C# has more </a:t>
            </a:r>
            <a:r>
              <a:rPr lang="en-US" b="1" dirty="0"/>
              <a:t>built in tools and libraries which make code faster.</a:t>
            </a:r>
          </a:p>
          <a:p>
            <a:pPr lvl="1"/>
            <a:r>
              <a:rPr lang="en-US" dirty="0"/>
              <a:t>Easily we have to find error so error chances will be less.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</a:rPr>
              <a:t>Modern Programming Language:</a:t>
            </a:r>
          </a:p>
          <a:p>
            <a:pPr lvl="1"/>
            <a:r>
              <a:rPr lang="en-US" dirty="0"/>
              <a:t>C# is a modern programming language because that supports the latest features like </a:t>
            </a:r>
            <a:r>
              <a:rPr lang="en-US" b="1" dirty="0"/>
              <a:t>object-oriented, functional, component-oriented, and asynchronous programming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easily </a:t>
            </a:r>
            <a:r>
              <a:rPr lang="en-US" b="1" dirty="0"/>
              <a:t>resolve older to latest </a:t>
            </a:r>
            <a:r>
              <a:rPr lang="en-US" dirty="0"/>
              <a:t>development.</a:t>
            </a:r>
          </a:p>
          <a:p>
            <a:pPr lvl="1"/>
            <a:r>
              <a:rPr lang="en-US" dirty="0"/>
              <a:t>It easily </a:t>
            </a:r>
            <a:r>
              <a:rPr lang="en-US" b="1" dirty="0"/>
              <a:t>support</a:t>
            </a:r>
            <a:r>
              <a:rPr lang="en-US" dirty="0"/>
              <a:t> </a:t>
            </a:r>
            <a:r>
              <a:rPr lang="en-US" dirty="0" err="1"/>
              <a:t>desktop,web,mobile</a:t>
            </a:r>
            <a:r>
              <a:rPr lang="en-US" dirty="0"/>
              <a:t> and cloud platform.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 </a:t>
            </a:r>
            <a:r>
              <a:rPr lang="en-IN" b="1" dirty="0">
                <a:solidFill>
                  <a:schemeClr val="accent1"/>
                </a:solidFill>
              </a:rPr>
              <a:t>Object-oriented Programming Language:</a:t>
            </a:r>
          </a:p>
          <a:p>
            <a:pPr lvl="1"/>
            <a:r>
              <a:rPr lang="en-US" dirty="0"/>
              <a:t>C# using classes and objects.</a:t>
            </a:r>
          </a:p>
          <a:p>
            <a:pPr lvl="1"/>
            <a:r>
              <a:rPr lang="en-US" dirty="0"/>
              <a:t>C# support all OOPs objectives like encapsulation, inheritance, polymorphism, and abstraction.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64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4B9DF-85F8-EA6E-4A37-A17E1AD2B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968"/>
            <a:ext cx="10515600" cy="588199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IN" b="1" dirty="0">
                <a:solidFill>
                  <a:schemeClr val="accent1"/>
                </a:solidFill>
              </a:rPr>
              <a:t>Type safe:</a:t>
            </a:r>
          </a:p>
          <a:p>
            <a:pPr lvl="1"/>
            <a:r>
              <a:rPr lang="en-IN" dirty="0"/>
              <a:t>C# can only access authorised memory location.</a:t>
            </a:r>
          </a:p>
          <a:p>
            <a:pPr lvl="1"/>
            <a:r>
              <a:rPr lang="en-IN" dirty="0"/>
              <a:t>It doesn’t allow buffer overflow, type conversation or memory corruption.</a:t>
            </a:r>
          </a:p>
          <a:p>
            <a:pPr lvl="1"/>
            <a:r>
              <a:rPr lang="en-IN" dirty="0"/>
              <a:t>So code become reliable and secure.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IN" b="1" dirty="0">
                <a:solidFill>
                  <a:schemeClr val="accent1"/>
                </a:solidFill>
              </a:rPr>
              <a:t>Interoperability:</a:t>
            </a:r>
          </a:p>
          <a:p>
            <a:pPr lvl="1"/>
            <a:r>
              <a:rPr lang="en-IN" dirty="0"/>
              <a:t>C# easily connected with other programming language so code become reusable.</a:t>
            </a:r>
          </a:p>
          <a:p>
            <a:pPr lvl="1"/>
            <a:r>
              <a:rPr lang="en-IN" dirty="0"/>
              <a:t>Because C# has more libraries, functions and system level configuration.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IN" b="1" dirty="0">
                <a:solidFill>
                  <a:schemeClr val="accent1"/>
                </a:solidFill>
              </a:rPr>
              <a:t>Scalable and Updateable:</a:t>
            </a:r>
          </a:p>
          <a:p>
            <a:pPr lvl="1"/>
            <a:r>
              <a:rPr lang="en-IN" dirty="0"/>
              <a:t>It </a:t>
            </a:r>
            <a:r>
              <a:rPr lang="en-US" dirty="0"/>
              <a:t>means that the C# application can </a:t>
            </a:r>
            <a:r>
              <a:rPr lang="en-US" b="1" dirty="0"/>
              <a:t>grow in size and work effectively</a:t>
            </a:r>
            <a:r>
              <a:rPr lang="en-US" dirty="0"/>
              <a:t> without making significant changes. </a:t>
            </a:r>
          </a:p>
          <a:p>
            <a:pPr lvl="1"/>
            <a:r>
              <a:rPr lang="en-US" dirty="0"/>
              <a:t>If we want to update any C# application, we simply need </a:t>
            </a:r>
            <a:r>
              <a:rPr lang="en-US" b="1" dirty="0"/>
              <a:t>to replace the old file with the new one</a:t>
            </a:r>
            <a:r>
              <a:rPr lang="en-US" dirty="0"/>
              <a:t>, and the system will continue to work effectively without any issues.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7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C912-B2BB-5000-42A8-3B4DFE190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794"/>
            <a:ext cx="10515600" cy="621398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IN" b="1" dirty="0">
                <a:solidFill>
                  <a:schemeClr val="accent1"/>
                </a:solidFill>
              </a:rPr>
              <a:t>Component-Oriented:</a:t>
            </a:r>
          </a:p>
          <a:p>
            <a:pPr lvl="1"/>
            <a:r>
              <a:rPr lang="en-US" dirty="0"/>
              <a:t>C# create software in the form of reusable and interchangeable components.</a:t>
            </a:r>
          </a:p>
          <a:p>
            <a:pPr lvl="1"/>
            <a:r>
              <a:rPr lang="en-US" dirty="0"/>
              <a:t>easy to </a:t>
            </a:r>
            <a:r>
              <a:rPr lang="en-US" b="1" dirty="0"/>
              <a:t>develop, test, maintain, and scale applications</a:t>
            </a:r>
            <a:r>
              <a:rPr lang="en-US" dirty="0"/>
              <a:t>.</a:t>
            </a:r>
            <a:endParaRPr lang="en-IN" dirty="0"/>
          </a:p>
          <a:p>
            <a:pPr marL="514350" indent="-514350">
              <a:buFont typeface="+mj-lt"/>
              <a:buAutoNum type="arabicPeriod" startAt="7"/>
            </a:pPr>
            <a:r>
              <a:rPr lang="en-IN" b="1" dirty="0">
                <a:solidFill>
                  <a:schemeClr val="accent1"/>
                </a:solidFill>
              </a:rPr>
              <a:t>Structured Programming Language:</a:t>
            </a:r>
          </a:p>
          <a:p>
            <a:pPr lvl="1"/>
            <a:r>
              <a:rPr lang="en-US" dirty="0"/>
              <a:t>It allows us to split programs into smaller and logical blocks, </a:t>
            </a:r>
            <a:r>
              <a:rPr lang="en-US" b="1" dirty="0"/>
              <a:t>such as methods, classes, and namespaces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So, it  makes the program </a:t>
            </a:r>
            <a:r>
              <a:rPr lang="en-US" b="1" dirty="0"/>
              <a:t>easier to understand</a:t>
            </a:r>
            <a:r>
              <a:rPr lang="en-US" dirty="0"/>
              <a:t>.</a:t>
            </a:r>
            <a:endParaRPr lang="en-IN" dirty="0"/>
          </a:p>
          <a:p>
            <a:pPr marL="514350" indent="-514350">
              <a:buFont typeface="+mj-lt"/>
              <a:buAutoNum type="arabicPeriod" startAt="7"/>
            </a:pPr>
            <a:r>
              <a:rPr lang="en-IN" b="1" dirty="0">
                <a:solidFill>
                  <a:schemeClr val="accent1"/>
                </a:solidFill>
              </a:rPr>
              <a:t>Rich Library:</a:t>
            </a:r>
          </a:p>
          <a:p>
            <a:pPr lvl="1"/>
            <a:r>
              <a:rPr lang="en-US" dirty="0"/>
              <a:t>C# provides a comprehensive set of </a:t>
            </a:r>
            <a:r>
              <a:rPr lang="en-US" b="1" dirty="0"/>
              <a:t>built-in libraries through the .NET </a:t>
            </a:r>
            <a:r>
              <a:rPr lang="en-US" dirty="0"/>
              <a:t>Framework and .NET Core.</a:t>
            </a:r>
          </a:p>
          <a:p>
            <a:pPr lvl="1"/>
            <a:r>
              <a:rPr lang="en-US" dirty="0"/>
              <a:t>These libraries include a wide range of pre-built classes, methods, and functions.</a:t>
            </a:r>
            <a:endParaRPr lang="en-IN" dirty="0"/>
          </a:p>
          <a:p>
            <a:pPr marL="514350" indent="-514350">
              <a:buFont typeface="+mj-lt"/>
              <a:buAutoNum type="arabicPeriod" startAt="7"/>
            </a:pPr>
            <a:r>
              <a:rPr lang="en-IN" b="1" dirty="0">
                <a:solidFill>
                  <a:schemeClr val="accent1"/>
                </a:solidFill>
              </a:rPr>
              <a:t> Fast Speed: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compilation and execution time of the C# language is fast.</a:t>
            </a:r>
          </a:p>
          <a:p>
            <a:pPr lvl="1"/>
            <a:r>
              <a:rPr lang="en-US" dirty="0"/>
              <a:t> It is a statically typed language that enables us to </a:t>
            </a:r>
            <a:r>
              <a:rPr lang="en-US" b="1" dirty="0"/>
              <a:t>detect errors and optimize code generation </a:t>
            </a:r>
            <a:r>
              <a:rPr lang="en-US" dirty="0"/>
              <a:t>at compile time.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97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0C5C7-A639-8B75-E13B-DBE52804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C# program: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CA53E-782D-7D4A-9EE9-D364FB2B8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using System;    </a:t>
            </a:r>
          </a:p>
          <a:p>
            <a:pPr marL="0" indent="0">
              <a:buNone/>
            </a:pPr>
            <a:r>
              <a:rPr lang="en-IN" dirty="0"/>
              <a:t>    </a:t>
            </a: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class</a:t>
            </a:r>
            <a:r>
              <a:rPr lang="en-IN" dirty="0"/>
              <a:t>  First</a:t>
            </a:r>
          </a:p>
          <a:p>
            <a:pPr marL="0" indent="0">
              <a:buNone/>
            </a:pPr>
            <a:r>
              <a:rPr lang="en-IN" dirty="0"/>
              <a:t>    {    </a:t>
            </a:r>
          </a:p>
          <a:p>
            <a:pPr marL="0" indent="0">
              <a:buNone/>
            </a:pPr>
            <a:r>
              <a:rPr lang="en-IN" dirty="0"/>
              <a:t>        </a:t>
            </a:r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static</a:t>
            </a:r>
            <a:r>
              <a:rPr lang="en-IN" dirty="0"/>
              <a:t> </a:t>
            </a:r>
            <a:r>
              <a:rPr lang="en-IN" b="1" dirty="0"/>
              <a:t>void</a:t>
            </a:r>
            <a:r>
              <a:rPr lang="en-IN" dirty="0"/>
              <a:t> Main(string[] </a:t>
            </a:r>
            <a:r>
              <a:rPr lang="en-IN" dirty="0" err="1"/>
              <a:t>args</a:t>
            </a:r>
            <a:r>
              <a:rPr lang="en-IN" dirty="0"/>
              <a:t>)    </a:t>
            </a:r>
          </a:p>
          <a:p>
            <a:pPr marL="0" indent="0">
              <a:buNone/>
            </a:pPr>
            <a:r>
              <a:rPr lang="en-IN" dirty="0"/>
              <a:t>        {    </a:t>
            </a:r>
          </a:p>
          <a:p>
            <a:pPr marL="0" indent="0">
              <a:buNone/>
            </a:pPr>
            <a:r>
              <a:rPr lang="en-IN" dirty="0"/>
              <a:t>            </a:t>
            </a:r>
            <a:r>
              <a:rPr lang="en-IN" dirty="0" err="1"/>
              <a:t>Console.WriteLine</a:t>
            </a:r>
            <a:r>
              <a:rPr lang="en-IN" dirty="0"/>
              <a:t>(“my first console application");    </a:t>
            </a:r>
          </a:p>
          <a:p>
            <a:pPr marL="0" indent="0">
              <a:buNone/>
            </a:pPr>
            <a:r>
              <a:rPr lang="en-IN" dirty="0"/>
              <a:t>        }    </a:t>
            </a:r>
          </a:p>
          <a:p>
            <a:pPr marL="0" indent="0">
              <a:buNone/>
            </a:pPr>
            <a:r>
              <a:rPr lang="en-IN" dirty="0"/>
              <a:t>    }   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70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C852-4C9C-7E24-2145-25839FFE2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Datatypes in C#: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8DFB1-1DBF-8F01-CE21-DED6FE34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/>
          <a:lstStyle/>
          <a:p>
            <a:r>
              <a:rPr lang="en-IN" dirty="0"/>
              <a:t>Datatype in C# are divided into three different parts like,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C2FF4-F900-0D84-07C5-ECEAACBC8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68" y="2015500"/>
            <a:ext cx="6525536" cy="4161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66B479-56DA-B5C7-1D8A-7F23884F5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602" y="6176963"/>
            <a:ext cx="152421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2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8BBC-D81F-E4D9-8AA4-CCE15EB7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Datatype with memory size: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6814FD-FF74-599A-97A7-7BB415B4B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852843"/>
              </p:ext>
            </p:extLst>
          </p:nvPr>
        </p:nvGraphicFramePr>
        <p:xfrm>
          <a:off x="838200" y="1825624"/>
          <a:ext cx="10515600" cy="3414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372702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18658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1814146"/>
                    </a:ext>
                  </a:extLst>
                </a:gridCol>
              </a:tblGrid>
              <a:tr h="569162">
                <a:tc>
                  <a:txBody>
                    <a:bodyPr/>
                    <a:lstStyle/>
                    <a:p>
                      <a:pPr algn="ctr"/>
                      <a:r>
                        <a:rPr lang="en-IN" u="sng" dirty="0" err="1"/>
                        <a:t>DataType</a:t>
                      </a:r>
                      <a:endParaRPr lang="en-IN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u="sng" dirty="0"/>
                        <a:t>Memory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u="sng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392264"/>
                  </a:ext>
                </a:extLst>
              </a:tr>
              <a:tr h="569162">
                <a:tc>
                  <a:txBody>
                    <a:bodyPr/>
                    <a:lstStyle/>
                    <a:p>
                      <a:r>
                        <a:rPr lang="en-IN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Char grade=‘A’;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878307"/>
                  </a:ext>
                </a:extLst>
              </a:tr>
              <a:tr h="569162">
                <a:tc>
                  <a:txBody>
                    <a:bodyPr/>
                    <a:lstStyle/>
                    <a:p>
                      <a:r>
                        <a:rPr lang="en-IN" dirty="0"/>
                        <a:t>Int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 </a:t>
                      </a:r>
                      <a:r>
                        <a:rPr lang="en-IN" dirty="0" err="1"/>
                        <a:t>Rollno</a:t>
                      </a:r>
                      <a:r>
                        <a:rPr lang="en-IN" dirty="0"/>
                        <a:t>=10;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13475"/>
                  </a:ext>
                </a:extLst>
              </a:tr>
              <a:tr h="569162">
                <a:tc>
                  <a:txBody>
                    <a:bodyPr/>
                    <a:lstStyle/>
                    <a:p>
                      <a:r>
                        <a:rPr lang="en-IN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Float percentage=86.29;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333821"/>
                  </a:ext>
                </a:extLst>
              </a:tr>
              <a:tr h="569162">
                <a:tc>
                  <a:txBody>
                    <a:bodyPr/>
                    <a:lstStyle/>
                    <a:p>
                      <a:r>
                        <a:rPr lang="en-IN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Double e=2.7234757789;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835939"/>
                  </a:ext>
                </a:extLst>
              </a:tr>
              <a:tr h="569162">
                <a:tc>
                  <a:txBody>
                    <a:bodyPr/>
                    <a:lstStyle/>
                    <a:p>
                      <a:r>
                        <a:rPr lang="en-IN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Long int salary=250000;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562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642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8BC9-4A5F-FACD-FA25-4F53489C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System in C#: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268D-0558-305E-38FD-71F925A90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C# is a </a:t>
            </a:r>
            <a:r>
              <a:rPr lang="en-US" b="1" dirty="0"/>
              <a:t>strongly typed and case sensitive </a:t>
            </a:r>
            <a:r>
              <a:rPr lang="en-US" dirty="0"/>
              <a:t>language.</a:t>
            </a:r>
          </a:p>
          <a:p>
            <a:r>
              <a:rPr lang="en-US" dirty="0"/>
              <a:t>Every variable and constant has a type, as does every expression that evaluates to a value like,</a:t>
            </a:r>
          </a:p>
          <a:p>
            <a:pPr lvl="2"/>
            <a:r>
              <a:rPr lang="en-US" sz="2400" b="1" dirty="0"/>
              <a:t>Int a=10;</a:t>
            </a:r>
          </a:p>
          <a:p>
            <a:r>
              <a:rPr lang="en-US" dirty="0"/>
              <a:t> C# primarily uses a </a:t>
            </a:r>
            <a:r>
              <a:rPr lang="en-US" b="1" i="1" dirty="0"/>
              <a:t>normative type system</a:t>
            </a:r>
            <a:r>
              <a:rPr lang="en-US" dirty="0"/>
              <a:t>. A </a:t>
            </a:r>
            <a:r>
              <a:rPr lang="en-US" i="1" dirty="0"/>
              <a:t>normative type system</a:t>
            </a:r>
            <a:r>
              <a:rPr lang="en-US" dirty="0"/>
              <a:t> uses names to identify each type.</a:t>
            </a:r>
          </a:p>
          <a:p>
            <a:r>
              <a:rPr lang="en-US" dirty="0"/>
              <a:t>In C#, struct, class, and interface types, including record types, are all identified by their name.</a:t>
            </a:r>
          </a:p>
          <a:p>
            <a:r>
              <a:rPr lang="en-US" dirty="0"/>
              <a:t>Every method declaration specifies a name&amp; type for each parameter and for the return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217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0534-067F-98C6-AF13-465D51542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6096000"/>
          </a:xfrm>
        </p:spPr>
        <p:txBody>
          <a:bodyPr/>
          <a:lstStyle/>
          <a:p>
            <a:r>
              <a:rPr lang="en-US" dirty="0"/>
              <a:t>C# </a:t>
            </a:r>
            <a:r>
              <a:rPr lang="en-US" b="1" dirty="0"/>
              <a:t>also supports </a:t>
            </a:r>
            <a:r>
              <a:rPr lang="en-US" b="1" i="1" dirty="0"/>
              <a:t>structural types</a:t>
            </a:r>
            <a:r>
              <a:rPr lang="en-US" dirty="0"/>
              <a:t>, such as tuples and anonymous types.</a:t>
            </a:r>
          </a:p>
          <a:p>
            <a:r>
              <a:rPr lang="en-US" dirty="0"/>
              <a:t>Structural types don't have unique names.</a:t>
            </a:r>
          </a:p>
          <a:p>
            <a:r>
              <a:rPr lang="en-US" dirty="0"/>
              <a:t>The compiler uses type information to make sure all operations that are performed in your code are </a:t>
            </a:r>
            <a:r>
              <a:rPr lang="en-US" i="1" dirty="0"/>
              <a:t>type safe</a:t>
            </a:r>
            <a:r>
              <a:rPr lang="en-US" dirty="0"/>
              <a:t>. </a:t>
            </a:r>
          </a:p>
          <a:p>
            <a:r>
              <a:rPr lang="en-US" b="1" dirty="0"/>
              <a:t>For example</a:t>
            </a:r>
            <a:r>
              <a:rPr lang="en-US" dirty="0"/>
              <a:t>, if you declare a variable of type </a:t>
            </a:r>
            <a:r>
              <a:rPr lang="en-US" dirty="0">
                <a:hlinkClick r:id="rId2"/>
              </a:rPr>
              <a:t>int</a:t>
            </a:r>
            <a:r>
              <a:rPr lang="en-US" dirty="0"/>
              <a:t>, the compiler allows you to use the variable in addition and subtraction operations. If you try to perform those same operations on a variable of type </a:t>
            </a:r>
            <a:r>
              <a:rPr lang="en-US" dirty="0">
                <a:hlinkClick r:id="rId3"/>
              </a:rPr>
              <a:t>bool</a:t>
            </a:r>
            <a:r>
              <a:rPr lang="en-US" dirty="0"/>
              <a:t>, the compiler generates an error,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138436-5B35-7178-290C-EBEFA3609A12}"/>
              </a:ext>
            </a:extLst>
          </p:cNvPr>
          <p:cNvSpPr/>
          <p:nvPr/>
        </p:nvSpPr>
        <p:spPr>
          <a:xfrm>
            <a:off x="2241755" y="4699819"/>
            <a:ext cx="5604387" cy="2005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int a = 5; int b = a + 2; //OK</a:t>
            </a:r>
          </a:p>
          <a:p>
            <a:endParaRPr lang="en-US" dirty="0"/>
          </a:p>
          <a:p>
            <a:r>
              <a:rPr lang="en-US" dirty="0"/>
              <a:t> bool test = true; </a:t>
            </a:r>
          </a:p>
          <a:p>
            <a:endParaRPr lang="en-US" dirty="0"/>
          </a:p>
          <a:p>
            <a:r>
              <a:rPr lang="en-US" dirty="0"/>
              <a:t>// Error. Operator '+' cannot be applied to operands of type 'int' and 'bool’.</a:t>
            </a:r>
          </a:p>
          <a:p>
            <a:r>
              <a:rPr lang="en-US" dirty="0"/>
              <a:t> int c = a + test;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937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D7A38-2612-3155-D6A4-5DC483E42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465"/>
            <a:ext cx="10515600" cy="585249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C# types are primarily divided into two main categories: </a:t>
            </a:r>
          </a:p>
          <a:p>
            <a:pPr marL="0" indent="0">
              <a:buNone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Value Types</a:t>
            </a:r>
            <a:r>
              <a:rPr lang="en-US" dirty="0"/>
              <a:t> 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Reference Types</a:t>
            </a:r>
            <a:r>
              <a:rPr lang="en-US" dirty="0"/>
              <a:t>. 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Types:</a:t>
            </a:r>
          </a:p>
          <a:p>
            <a:pPr lvl="1"/>
            <a:r>
              <a:rPr lang="en-US" dirty="0"/>
              <a:t>Value types directly contain their data. Examples include: 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Integral types:</a:t>
            </a:r>
            <a:r>
              <a:rPr lang="en-IN" dirty="0"/>
              <a:t> int (alias for System.Int32), byte, long, short, uint, ulong, ushort, sbyte, char.</a:t>
            </a:r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Floating-point types:</a:t>
            </a:r>
            <a:r>
              <a:rPr lang="en-US" dirty="0"/>
              <a:t> float (alias for System.Single), double, decimal.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Boolean type:</a:t>
            </a:r>
            <a:r>
              <a:rPr lang="en-US" dirty="0"/>
              <a:t> bool.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User-defined types:</a:t>
            </a:r>
            <a:r>
              <a:rPr lang="en-US" dirty="0"/>
              <a:t> struct and enum. 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109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7435-0248-21E5-4687-E2DCF1CA2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4"/>
            <a:ext cx="10515600" cy="572467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IN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 Types:</a:t>
            </a:r>
          </a:p>
          <a:p>
            <a:r>
              <a:rPr lang="en-US" dirty="0"/>
              <a:t>Reference types store the memory address of the actual data. Examples include,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Class types:</a:t>
            </a:r>
            <a:r>
              <a:rPr lang="en-IN" dirty="0"/>
              <a:t> class, record class, object (alias for </a:t>
            </a:r>
            <a:r>
              <a:rPr lang="en-IN" dirty="0" err="1"/>
              <a:t>System.Object</a:t>
            </a:r>
            <a:r>
              <a:rPr lang="en-IN" dirty="0"/>
              <a:t>), string (alias for </a:t>
            </a:r>
            <a:r>
              <a:rPr lang="en-IN" dirty="0" err="1"/>
              <a:t>System.String</a:t>
            </a:r>
            <a:r>
              <a:rPr lang="en-IN" dirty="0"/>
              <a:t>).</a:t>
            </a:r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Interfaces:</a:t>
            </a:r>
            <a:r>
              <a:rPr lang="en-IN" dirty="0"/>
              <a:t> interface.</a:t>
            </a:r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Arrays:</a:t>
            </a:r>
            <a:r>
              <a:rPr lang="en-IN" dirty="0"/>
              <a:t> int[], string[], etc..</a:t>
            </a:r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Delegates:</a:t>
            </a:r>
            <a:r>
              <a:rPr lang="en-IN" dirty="0"/>
              <a:t> delegate.</a:t>
            </a:r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Dynamic type:</a:t>
            </a:r>
            <a:r>
              <a:rPr lang="en-IN" dirty="0"/>
              <a:t> dynamic, which defers type resolution to runtime.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729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9AC5-4E2B-174D-E950-984111C3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88490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type v/s Reference type: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79547-E51A-1BE3-4D3C-B062109003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100394"/>
              </p:ext>
            </p:extLst>
          </p:nvPr>
        </p:nvGraphicFramePr>
        <p:xfrm>
          <a:off x="120445" y="855406"/>
          <a:ext cx="11432457" cy="607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819">
                  <a:extLst>
                    <a:ext uri="{9D8B030D-6E8A-4147-A177-3AD203B41FA5}">
                      <a16:colId xmlns:a16="http://schemas.microsoft.com/office/drawing/2014/main" val="81339012"/>
                    </a:ext>
                  </a:extLst>
                </a:gridCol>
                <a:gridCol w="3944375">
                  <a:extLst>
                    <a:ext uri="{9D8B030D-6E8A-4147-A177-3AD203B41FA5}">
                      <a16:colId xmlns:a16="http://schemas.microsoft.com/office/drawing/2014/main" val="3312329541"/>
                    </a:ext>
                  </a:extLst>
                </a:gridCol>
                <a:gridCol w="3677263">
                  <a:extLst>
                    <a:ext uri="{9D8B030D-6E8A-4147-A177-3AD203B41FA5}">
                      <a16:colId xmlns:a16="http://schemas.microsoft.com/office/drawing/2014/main" val="440664514"/>
                    </a:ext>
                  </a:extLst>
                </a:gridCol>
              </a:tblGrid>
              <a:tr h="37736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 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Reference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462849"/>
                  </a:ext>
                </a:extLst>
              </a:tr>
              <a:tr h="660383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Storage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Directly contains the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 a reference (memory address) to the data (object).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268681"/>
                  </a:ext>
                </a:extLst>
              </a:tr>
              <a:tr h="910630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 Location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Primarily allocated on the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(local variables, method parameters).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heap for the object, stack for the reference variable itself.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448321"/>
                  </a:ext>
                </a:extLst>
              </a:tr>
              <a:tr h="1509446">
                <a:tc>
                  <a:txBody>
                    <a:bodyPr/>
                    <a:lstStyle/>
                    <a:p>
                      <a:r>
                        <a:rPr lang="en-IN" dirty="0"/>
                        <a:t>Assignment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copy of the 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created. Modifying the new variable does not affect the original.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copy of the reference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created. Both variables point to the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object in memory. Modifying the object through one variable affects all references.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691601"/>
                  </a:ext>
                </a:extLst>
              </a:tr>
              <a:tr h="1226425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Passing to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Passed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value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(a copy is passed). Changes in the method do not affect the original variable.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Passed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reference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(a copy of the reference is passed). Changes to the object's properties within the method affect the original object.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001254"/>
                  </a:ext>
                </a:extLst>
              </a:tr>
              <a:tr h="377362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Can not be a null.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Can be null.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448898"/>
                  </a:ext>
                </a:extLst>
              </a:tr>
              <a:tr h="377362">
                <a:tc>
                  <a:txBody>
                    <a:bodyPr/>
                    <a:lstStyle/>
                    <a:p>
                      <a:r>
                        <a:rPr lang="en-IN" b="1" i="0" u="none" dirty="0"/>
                        <a:t>Inheritance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Can not be inherited.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Support inheritance.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88881"/>
                  </a:ext>
                </a:extLst>
              </a:tr>
              <a:tr h="637441">
                <a:tc>
                  <a:txBody>
                    <a:bodyPr/>
                    <a:lstStyle/>
                    <a:p>
                      <a:r>
                        <a:rPr lang="en-IN" b="1" i="0" u="none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int, char, float, bool, struct, enum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class, interface, delegate, array, string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08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308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A57C-BA68-42CD-525D-12091B13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Boxing &amp; Unboxing: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10F11-78CF-FBA6-3C83-F4659632D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key feature of the unified type system is that value types can be seamlessly converted to and from object types using a process called </a:t>
            </a:r>
            <a:r>
              <a:rPr lang="en-US" b="1" dirty="0"/>
              <a:t>boxing</a:t>
            </a:r>
            <a:r>
              <a:rPr lang="en-US" dirty="0"/>
              <a:t> and </a:t>
            </a:r>
            <a:r>
              <a:rPr lang="en-US" b="1" dirty="0"/>
              <a:t>unboxing</a:t>
            </a:r>
            <a:r>
              <a:rPr lang="en-US" dirty="0"/>
              <a:t>. </a:t>
            </a:r>
          </a:p>
          <a:p>
            <a:r>
              <a:rPr lang="en-US" b="1" dirty="0"/>
              <a:t>Boxing</a:t>
            </a:r>
            <a:r>
              <a:rPr lang="en-US" dirty="0"/>
              <a:t> is the implicit conversion of a value type to the type object or any interface type it implements.</a:t>
            </a:r>
          </a:p>
          <a:p>
            <a:r>
              <a:rPr lang="en-US" b="1" dirty="0"/>
              <a:t>Unboxing</a:t>
            </a:r>
            <a:r>
              <a:rPr lang="en-US" dirty="0"/>
              <a:t> is the explicit conversion of an object type back to a value type.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051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3B3E-0B2E-8012-46AC-710D9F51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9863B-D040-2BDD-4C55-A3EFE4DA1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Constant has a fixed value that remains unchanged throughout the program.</a:t>
            </a:r>
          </a:p>
          <a:p>
            <a:r>
              <a:rPr lang="en-IN" dirty="0"/>
              <a:t>In </a:t>
            </a:r>
            <a:r>
              <a:rPr lang="en-IN" dirty="0" err="1"/>
              <a:t>C#,you</a:t>
            </a:r>
            <a:r>
              <a:rPr lang="en-IN" dirty="0"/>
              <a:t> can declare constants for all types.</a:t>
            </a:r>
          </a:p>
          <a:p>
            <a:r>
              <a:rPr lang="en-IN" dirty="0"/>
              <a:t>You </a:t>
            </a:r>
            <a:r>
              <a:rPr lang="en-IN" dirty="0" err="1"/>
              <a:t>haveto</a:t>
            </a:r>
            <a:r>
              <a:rPr lang="en-IN" dirty="0"/>
              <a:t> initialize a constant at the time of its declaration.</a:t>
            </a:r>
          </a:p>
          <a:p>
            <a:r>
              <a:rPr lang="en-IN" dirty="0"/>
              <a:t>Constant are declared for value type rather than for reference types.</a:t>
            </a:r>
          </a:p>
          <a:p>
            <a:r>
              <a:rPr lang="en-IN" dirty="0"/>
              <a:t>To declare an identifier as a </a:t>
            </a:r>
            <a:r>
              <a:rPr lang="en-IN" dirty="0" err="1"/>
              <a:t>constant,the</a:t>
            </a:r>
            <a:r>
              <a:rPr lang="en-IN" dirty="0"/>
              <a:t> “</a:t>
            </a:r>
            <a:r>
              <a:rPr lang="en-IN" dirty="0" err="1"/>
              <a:t>const</a:t>
            </a:r>
            <a:r>
              <a:rPr lang="en-IN" dirty="0"/>
              <a:t>” keyword is used in the identifier </a:t>
            </a:r>
            <a:r>
              <a:rPr lang="en-IN" dirty="0" err="1"/>
              <a:t>declarartion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1195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E45CA3-9ED2-7193-E332-EEA5B7A7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2" y="373627"/>
            <a:ext cx="8583560" cy="511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89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A0CA-5965-51BB-75D9-9FA1DEC5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2C504-CF17-4E29-1637-F99157617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includes multiple iterations of the if statement to manage different program requirements efficiently. In C# programming, the if statement is used to test the condition. There are various types of if statements in C#.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if statement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if-else statement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if-else-if ladder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nested if statement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591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C95B8-8484-FF61-9D3C-5CE5D97E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solidFill>
                  <a:srgbClr val="FF0000"/>
                </a:solidFill>
              </a:rPr>
              <a:t>Syntax of conditional statement: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4911F0-4259-5FAA-56E2-A4A922768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294" y="1845289"/>
            <a:ext cx="94494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60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F262-7D2B-1A08-B7A9-5E4B0657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solidFill>
                  <a:srgbClr val="FF0000"/>
                </a:solidFill>
              </a:rPr>
              <a:t>Looping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1B6F-FF60-8927-81C2-4EF458BF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C# provide different type of Looping structure which are mentioned below.</a:t>
            </a:r>
          </a:p>
          <a:p>
            <a:r>
              <a:rPr lang="en-IN" dirty="0"/>
              <a:t>Looping structure are used while we have execute those statement which require to repeated multiple time during development time.</a:t>
            </a:r>
          </a:p>
          <a:p>
            <a:r>
              <a:rPr lang="en-IN" dirty="0"/>
              <a:t>Looping structure like,</a:t>
            </a:r>
          </a:p>
          <a:p>
            <a:pPr marL="0" indent="0">
              <a:buNone/>
            </a:pPr>
            <a:endParaRPr lang="en-IN" dirty="0"/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For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While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Do-while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Nested for loop</a:t>
            </a:r>
          </a:p>
        </p:txBody>
      </p:sp>
    </p:spTree>
    <p:extLst>
      <p:ext uri="{BB962C8B-B14F-4D97-AF65-F5344CB8AC3E}">
        <p14:creationId xmlns:p14="http://schemas.microsoft.com/office/powerpoint/2010/main" val="943217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CF81C-BC8C-E53F-F8F4-8733E8BC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looping statement: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25116D-3D79-FED0-E0AE-AE7336F2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78" y="1690688"/>
            <a:ext cx="4944165" cy="2819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155AC0-7B26-902D-0885-53D3AA659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73297"/>
            <a:ext cx="5391902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60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67C6-8FE2-90C5-8BA4-0352E747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8707"/>
          </a:xfrm>
        </p:spPr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6F969-C893-925D-8DDB-4E452CEF6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368" y="1406013"/>
            <a:ext cx="7532716" cy="47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70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C530-CF34-00E1-26D7-93B10A2F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solidFill>
                  <a:srgbClr val="FF0000"/>
                </a:solidFill>
              </a:rPr>
              <a:t>Break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8CFE8-C879-35CB-5E7E-F59AAF8F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5397909"/>
          </a:xfrm>
        </p:spPr>
        <p:txBody>
          <a:bodyPr/>
          <a:lstStyle/>
          <a:p>
            <a:r>
              <a:rPr lang="en-US" dirty="0"/>
              <a:t>In C#, the break statement is used to end/terminate the loop.</a:t>
            </a:r>
          </a:p>
          <a:p>
            <a:r>
              <a:rPr lang="en-US" dirty="0"/>
              <a:t>It breaks the current flow of the program based on user-defined condition.</a:t>
            </a:r>
          </a:p>
          <a:p>
            <a:r>
              <a:rPr lang="en-US" dirty="0"/>
              <a:t>the break statement works as a jump statement in C#.</a:t>
            </a:r>
          </a:p>
          <a:p>
            <a:r>
              <a:rPr lang="en-US" dirty="0"/>
              <a:t>specifically for the early termination of loops and switch statements.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173BD4-75AB-EFB1-3B93-32B8F01E52AB}"/>
              </a:ext>
            </a:extLst>
          </p:cNvPr>
          <p:cNvSpPr/>
          <p:nvPr/>
        </p:nvSpPr>
        <p:spPr>
          <a:xfrm>
            <a:off x="2703871" y="3962400"/>
            <a:ext cx="5407742" cy="28021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for(initialization; condition; </a:t>
            </a:r>
            <a:r>
              <a:rPr lang="en-US" dirty="0" err="1"/>
              <a:t>updation</a:t>
            </a:r>
            <a:r>
              <a:rPr lang="en-US" dirty="0"/>
              <a:t>)  </a:t>
            </a:r>
          </a:p>
          <a:p>
            <a:r>
              <a:rPr lang="en-US" dirty="0"/>
              <a:t>{  </a:t>
            </a:r>
          </a:p>
          <a:p>
            <a:r>
              <a:rPr lang="en-US" b="1" dirty="0"/>
              <a:t>	if</a:t>
            </a:r>
            <a:r>
              <a:rPr lang="en-US" dirty="0"/>
              <a:t>(condition)  </a:t>
            </a:r>
          </a:p>
          <a:p>
            <a:r>
              <a:rPr lang="en-US" dirty="0"/>
              <a:t>	{  </a:t>
            </a:r>
          </a:p>
          <a:p>
            <a:r>
              <a:rPr lang="en-US" i="1" dirty="0"/>
              <a:t>		// block of code</a:t>
            </a:r>
            <a:r>
              <a:rPr lang="en-US" dirty="0"/>
              <a:t>  </a:t>
            </a:r>
          </a:p>
          <a:p>
            <a:r>
              <a:rPr lang="en-US" b="1" dirty="0"/>
              <a:t>		break</a:t>
            </a:r>
            <a:r>
              <a:rPr lang="en-US" dirty="0"/>
              <a:t>;  </a:t>
            </a:r>
            <a:r>
              <a:rPr lang="en-US" i="1" dirty="0"/>
              <a:t>// exit the code</a:t>
            </a:r>
            <a:r>
              <a:rPr lang="en-US" dirty="0"/>
              <a:t>  	</a:t>
            </a:r>
          </a:p>
          <a:p>
            <a:r>
              <a:rPr lang="en-US" dirty="0"/>
              <a:t>                   }  </a:t>
            </a:r>
          </a:p>
          <a:p>
            <a:endParaRPr lang="en-US" dirty="0"/>
          </a:p>
          <a:p>
            <a:r>
              <a:rPr lang="en-US" dirty="0"/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126274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2F6D0-0FF7-6DC7-EC3F-FB03D9A0F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948"/>
            <a:ext cx="10515600" cy="5705015"/>
          </a:xfrm>
        </p:spPr>
        <p:txBody>
          <a:bodyPr/>
          <a:lstStyle/>
          <a:p>
            <a:r>
              <a:rPr lang="en-US" dirty="0"/>
              <a:t>break statements by using the different types of loops in C#.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Simple Loop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Nested Loop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Infinite Loop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Switch-Case statement</a:t>
            </a:r>
          </a:p>
          <a:p>
            <a:r>
              <a:rPr lang="en-US" dirty="0"/>
              <a:t>For Example: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0A3FD-D828-C88C-0230-A0E8C5CB1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235" y="3001806"/>
            <a:ext cx="8116433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49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F80A-7FB7-AB05-A83D-9EF18F32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2C13-DF6F-4331-1162-265CEE295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C# </a:t>
            </a:r>
            <a:r>
              <a:rPr lang="en-US" b="1" i="1" dirty="0"/>
              <a:t>continue statement</a:t>
            </a:r>
            <a:r>
              <a:rPr lang="en-US" dirty="0"/>
              <a:t> is used to continue in any loop.</a:t>
            </a:r>
          </a:p>
          <a:p>
            <a:r>
              <a:rPr lang="en-US" dirty="0"/>
              <a:t> It continues the current flow of the program and skips the remaining code at specified condition.</a:t>
            </a:r>
          </a:p>
          <a:p>
            <a:r>
              <a:rPr lang="en-US" dirty="0"/>
              <a:t> In the case of inner loop, it continues only inner loop.</a:t>
            </a:r>
          </a:p>
          <a:p>
            <a:r>
              <a:rPr lang="en-US" dirty="0"/>
              <a:t> It forces the program control to run the next loop iteration.</a:t>
            </a:r>
          </a:p>
          <a:p>
            <a:r>
              <a:rPr lang="en-US" dirty="0"/>
              <a:t>The continue statement is utilized in the loop of the program. </a:t>
            </a:r>
          </a:p>
          <a:p>
            <a:r>
              <a:rPr lang="en-US" dirty="0"/>
              <a:t>In simple words, the code body of any loop following the continue statement would be skipped from the loop, and the next loop iteration would start again.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963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B4CD-310D-4466-04AC-8FDB5978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0270"/>
            <a:ext cx="10515600" cy="110767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290B3C-05F6-0E56-239B-890CD5B0016C}"/>
              </a:ext>
            </a:extLst>
          </p:cNvPr>
          <p:cNvSpPr/>
          <p:nvPr/>
        </p:nvSpPr>
        <p:spPr>
          <a:xfrm>
            <a:off x="1779639" y="1435510"/>
            <a:ext cx="6558116" cy="3588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for (initialization; condition; update)  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    </a:t>
            </a:r>
            <a:r>
              <a:rPr lang="en-US" b="1" dirty="0"/>
              <a:t>if</a:t>
            </a:r>
            <a:r>
              <a:rPr lang="en-US" dirty="0"/>
              <a:t> (expression)  </a:t>
            </a:r>
          </a:p>
          <a:p>
            <a:r>
              <a:rPr lang="en-US" dirty="0"/>
              <a:t>    {  </a:t>
            </a:r>
          </a:p>
          <a:p>
            <a:r>
              <a:rPr lang="en-US" dirty="0"/>
              <a:t>        </a:t>
            </a:r>
            <a:r>
              <a:rPr lang="en-US" b="1" dirty="0"/>
              <a:t>continue</a:t>
            </a:r>
            <a:r>
              <a:rPr lang="en-US" dirty="0"/>
              <a:t>; </a:t>
            </a:r>
            <a:r>
              <a:rPr lang="en-US" i="1" dirty="0"/>
              <a:t>//continue statement</a:t>
            </a:r>
            <a:r>
              <a:rPr lang="en-US" dirty="0"/>
              <a:t>  </a:t>
            </a:r>
          </a:p>
          <a:p>
            <a:r>
              <a:rPr lang="en-US" dirty="0"/>
              <a:t>    }  </a:t>
            </a:r>
          </a:p>
          <a:p>
            <a:r>
              <a:rPr lang="en-US" dirty="0"/>
              <a:t>      </a:t>
            </a:r>
          </a:p>
          <a:p>
            <a:r>
              <a:rPr lang="en-US" dirty="0"/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289570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C3EA-F4B5-50AC-26EB-3CC38A0A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766915"/>
          </a:xfrm>
        </p:spPr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8E04F8-AB1C-1E5A-48EB-ACF9505A2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053" y="934065"/>
            <a:ext cx="8065710" cy="52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31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DFE0-1998-CD2E-20D5-24E25669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7968-40BE-DD89-2C9E-B242A16F9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40"/>
            <a:ext cx="10515600" cy="5006923"/>
          </a:xfrm>
        </p:spPr>
        <p:txBody>
          <a:bodyPr/>
          <a:lstStyle/>
          <a:p>
            <a:r>
              <a:rPr lang="en-US" dirty="0"/>
              <a:t>In C#, the </a:t>
            </a:r>
            <a:r>
              <a:rPr lang="en-US" b="1" i="1" dirty="0"/>
              <a:t>Goto statement</a:t>
            </a:r>
            <a:r>
              <a:rPr lang="en-US" dirty="0"/>
              <a:t> is also known jump statement. </a:t>
            </a:r>
          </a:p>
          <a:p>
            <a:r>
              <a:rPr lang="en-US" dirty="0"/>
              <a:t>It is used to transfer control to the other part of the program. </a:t>
            </a:r>
          </a:p>
          <a:p>
            <a:r>
              <a:rPr lang="en-US" dirty="0"/>
              <a:t>It unconditionally jumps to the specified label. </a:t>
            </a:r>
          </a:p>
          <a:p>
            <a:r>
              <a:rPr lang="en-US" dirty="0"/>
              <a:t>The </a:t>
            </a:r>
            <a:r>
              <a:rPr lang="en-US" dirty="0" err="1"/>
              <a:t>goto</a:t>
            </a:r>
            <a:r>
              <a:rPr lang="en-US" dirty="0"/>
              <a:t> statement can be employed to shift control from a deeply nested switch case label or loop.</a:t>
            </a:r>
          </a:p>
          <a:p>
            <a:r>
              <a:rPr lang="en-US" dirty="0"/>
              <a:t>Syntax: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goto</a:t>
            </a:r>
            <a:r>
              <a:rPr lang="en-US" dirty="0">
                <a:solidFill>
                  <a:schemeClr val="accent1"/>
                </a:solidFill>
              </a:rPr>
              <a:t> label;  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. . .  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label:   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1"/>
                </a:solidFill>
              </a:rPr>
              <a:t>// Code execute after the jump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728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F059-6CA3-254A-6CED-2B4D212C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2AA94D-3904-5205-992C-E52E8E0C1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0738"/>
            <a:ext cx="8439594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11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D7FF-D24E-23A5-874F-A87EB08C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2820-7C89-0DBE-C25E-7FC0D04E6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In C#, a function is a block of code or set of instructions that can perform a specific task. </a:t>
            </a:r>
          </a:p>
          <a:p>
            <a:r>
              <a:rPr lang="en-US" dirty="0"/>
              <a:t>It can be executed when calling the function. </a:t>
            </a:r>
          </a:p>
          <a:p>
            <a:r>
              <a:rPr lang="en-US" dirty="0"/>
              <a:t>It is also known as a method. </a:t>
            </a:r>
          </a:p>
          <a:p>
            <a:r>
              <a:rPr lang="en-US" dirty="0"/>
              <a:t>The method is defined within a class. It is used to improve the code readability, reusability and maintainability.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492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DC01-E135-09E6-84B9-FF2CC357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02282-8DE2-1C01-FAFE-3AC6E2EBC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77"/>
            <a:ext cx="10515600" cy="47512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 program  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access_specifier</a:t>
            </a:r>
            <a:r>
              <a:rPr lang="en-US" dirty="0"/>
              <a:t>&gt; &lt;</a:t>
            </a:r>
            <a:r>
              <a:rPr lang="en-US" dirty="0" err="1"/>
              <a:t>return_type</a:t>
            </a:r>
            <a:r>
              <a:rPr lang="en-US" dirty="0"/>
              <a:t>&gt; </a:t>
            </a:r>
            <a:r>
              <a:rPr lang="en-US" dirty="0" err="1"/>
              <a:t>Method_Name</a:t>
            </a:r>
            <a:r>
              <a:rPr lang="en-US" dirty="0"/>
              <a:t>()  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i="1" dirty="0"/>
              <a:t>// block of code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Where,</a:t>
            </a:r>
          </a:p>
          <a:p>
            <a:pPr lvl="2"/>
            <a:r>
              <a:rPr lang="en-US" b="1" dirty="0" err="1"/>
              <a:t>access_specifier</a:t>
            </a:r>
            <a:r>
              <a:rPr lang="en-US" b="1" dirty="0"/>
              <a:t>:</a:t>
            </a:r>
            <a:r>
              <a:rPr lang="en-US" dirty="0"/>
              <a:t> It defines the accessibility of the method.</a:t>
            </a:r>
          </a:p>
          <a:p>
            <a:pPr lvl="2"/>
            <a:r>
              <a:rPr lang="en-US" b="1" dirty="0" err="1"/>
              <a:t>Return_type</a:t>
            </a:r>
            <a:r>
              <a:rPr lang="en-US" b="1" dirty="0"/>
              <a:t>:</a:t>
            </a:r>
            <a:r>
              <a:rPr lang="en-US" dirty="0"/>
              <a:t> It specifies the return type value that the function returns.</a:t>
            </a:r>
          </a:p>
          <a:p>
            <a:pPr lvl="2"/>
            <a:r>
              <a:rPr lang="en-US" b="1" dirty="0" err="1"/>
              <a:t>Method_Name</a:t>
            </a:r>
            <a:r>
              <a:rPr lang="en-US" b="1" dirty="0"/>
              <a:t>: </a:t>
            </a:r>
            <a:r>
              <a:rPr lang="en-US" dirty="0"/>
              <a:t>It defines the name of the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556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DEA9-05CC-4FA0-3CF7-0E139C40B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74ACD-0130-0F94-A026-0F8DE19C0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using System;  </a:t>
            </a:r>
          </a:p>
          <a:p>
            <a:pPr marL="0" indent="0">
              <a:buNone/>
            </a:pPr>
            <a:r>
              <a:rPr lang="en-IN" b="1" dirty="0"/>
              <a:t>class</a:t>
            </a:r>
            <a:r>
              <a:rPr lang="en-IN" dirty="0"/>
              <a:t> Program  </a:t>
            </a:r>
          </a:p>
          <a:p>
            <a:pPr marL="0" indent="0">
              <a:buNone/>
            </a:pPr>
            <a:r>
              <a:rPr lang="en-IN" dirty="0"/>
              <a:t>{  </a:t>
            </a:r>
          </a:p>
          <a:p>
            <a:pPr marL="0" indent="0">
              <a:buNone/>
            </a:pPr>
            <a:r>
              <a:rPr lang="en-IN" dirty="0"/>
              <a:t>    </a:t>
            </a:r>
            <a:r>
              <a:rPr lang="en-IN" b="1" dirty="0"/>
              <a:t>static</a:t>
            </a:r>
            <a:r>
              <a:rPr lang="en-IN" dirty="0"/>
              <a:t> </a:t>
            </a:r>
            <a:r>
              <a:rPr lang="en-IN" b="1" dirty="0"/>
              <a:t>void</a:t>
            </a:r>
            <a:r>
              <a:rPr lang="en-IN" dirty="0"/>
              <a:t> welcome()  </a:t>
            </a:r>
            <a:r>
              <a:rPr lang="en-IN" i="1" dirty="0"/>
              <a:t>// create the function </a:t>
            </a:r>
            <a:r>
              <a:rPr lang="en-IN" dirty="0"/>
              <a:t>  </a:t>
            </a:r>
          </a:p>
          <a:p>
            <a:pPr marL="0" indent="0">
              <a:buNone/>
            </a:pPr>
            <a:r>
              <a:rPr lang="en-IN" dirty="0"/>
              <a:t>    {  </a:t>
            </a:r>
          </a:p>
          <a:p>
            <a:pPr marL="0" indent="0">
              <a:buNone/>
            </a:pPr>
            <a:r>
              <a:rPr lang="en-IN" dirty="0"/>
              <a:t>        </a:t>
            </a:r>
            <a:r>
              <a:rPr lang="en-IN" dirty="0" err="1"/>
              <a:t>Console.WriteLine</a:t>
            </a:r>
            <a:r>
              <a:rPr lang="en-IN" dirty="0"/>
              <a:t>(“</a:t>
            </a:r>
            <a:r>
              <a:rPr lang="en-IN" dirty="0" err="1"/>
              <a:t>msuniversity</a:t>
            </a:r>
            <a:r>
              <a:rPr lang="en-IN" dirty="0"/>
              <a:t>”); </a:t>
            </a:r>
          </a:p>
          <a:p>
            <a:pPr marL="0" indent="0">
              <a:buNone/>
            </a:pPr>
            <a:r>
              <a:rPr lang="en-IN" dirty="0"/>
              <a:t>    }  </a:t>
            </a:r>
          </a:p>
          <a:p>
            <a:pPr marL="0" indent="0">
              <a:buNone/>
            </a:pPr>
            <a:r>
              <a:rPr lang="en-IN" dirty="0"/>
              <a:t>    </a:t>
            </a:r>
            <a:r>
              <a:rPr lang="en-IN" b="1" dirty="0"/>
              <a:t>static</a:t>
            </a:r>
            <a:r>
              <a:rPr lang="en-IN" dirty="0"/>
              <a:t> </a:t>
            </a:r>
            <a:r>
              <a:rPr lang="en-IN" b="1" dirty="0"/>
              <a:t>void</a:t>
            </a:r>
            <a:r>
              <a:rPr lang="en-IN" dirty="0"/>
              <a:t> Main()  </a:t>
            </a:r>
          </a:p>
          <a:p>
            <a:pPr marL="0" indent="0">
              <a:buNone/>
            </a:pPr>
            <a:r>
              <a:rPr lang="en-IN" dirty="0"/>
              <a:t>    {  </a:t>
            </a:r>
          </a:p>
          <a:p>
            <a:pPr marL="0" indent="0">
              <a:buNone/>
            </a:pPr>
            <a:r>
              <a:rPr lang="en-IN" dirty="0"/>
              <a:t>        welcome();  </a:t>
            </a:r>
            <a:r>
              <a:rPr lang="en-IN" i="1" dirty="0"/>
              <a:t>// call the function</a:t>
            </a:r>
            <a:r>
              <a:rPr lang="en-IN" dirty="0"/>
              <a:t>  </a:t>
            </a:r>
          </a:p>
          <a:p>
            <a:pPr marL="0" indent="0">
              <a:buNone/>
            </a:pPr>
            <a:r>
              <a:rPr lang="en-IN" dirty="0"/>
              <a:t>    }  </a:t>
            </a:r>
          </a:p>
          <a:p>
            <a:pPr marL="0" indent="0">
              <a:buNone/>
            </a:pPr>
            <a:r>
              <a:rPr lang="en-IN" dirty="0"/>
              <a:t>}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114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70DFE-41E0-E098-D6D5-CACEF40A3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426"/>
            <a:ext cx="10515600" cy="5498537"/>
          </a:xfrm>
        </p:spPr>
        <p:txBody>
          <a:bodyPr>
            <a:normAutofit/>
          </a:bodyPr>
          <a:lstStyle/>
          <a:p>
            <a:r>
              <a:rPr lang="en-IN" dirty="0"/>
              <a:t>So each and every function has,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Function Declaration:</a:t>
            </a:r>
          </a:p>
          <a:p>
            <a:pPr marL="457200" lvl="1" indent="0">
              <a:buNone/>
            </a:pPr>
            <a:r>
              <a:rPr lang="en-IN" dirty="0" err="1">
                <a:solidFill>
                  <a:srgbClr val="FF0000"/>
                </a:solidFill>
              </a:rPr>
              <a:t>Return_Type</a:t>
            </a:r>
            <a:r>
              <a:rPr lang="en-IN" dirty="0">
                <a:solidFill>
                  <a:srgbClr val="FF0000"/>
                </a:solidFill>
              </a:rPr>
              <a:t> </a:t>
            </a:r>
            <a:r>
              <a:rPr lang="en-IN" dirty="0" err="1">
                <a:solidFill>
                  <a:srgbClr val="FF0000"/>
                </a:solidFill>
              </a:rPr>
              <a:t>FunctionName</a:t>
            </a:r>
            <a:r>
              <a:rPr lang="en-IN" dirty="0">
                <a:solidFill>
                  <a:srgbClr val="FF0000"/>
                </a:solidFill>
              </a:rPr>
              <a:t>(Parameters);  </a:t>
            </a:r>
          </a:p>
          <a:p>
            <a:pPr marL="0" indent="0">
              <a:buNone/>
            </a:pPr>
            <a:endParaRPr lang="en-IN" b="1" dirty="0"/>
          </a:p>
          <a:p>
            <a:pPr marL="514350" indent="-514350">
              <a:buAutoNum type="arabicPeriod" startAt="2"/>
            </a:pPr>
            <a:r>
              <a:rPr lang="en-IN" b="1" dirty="0"/>
              <a:t>Function Definition: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ReturnType</a:t>
            </a:r>
            <a:r>
              <a:rPr lang="en-IN" dirty="0">
                <a:solidFill>
                  <a:srgbClr val="FF0000"/>
                </a:solidFill>
              </a:rPr>
              <a:t> </a:t>
            </a:r>
            <a:r>
              <a:rPr lang="en-IN" dirty="0" err="1">
                <a:solidFill>
                  <a:srgbClr val="FF0000"/>
                </a:solidFill>
              </a:rPr>
              <a:t>FunctionName</a:t>
            </a:r>
            <a:r>
              <a:rPr lang="en-IN" dirty="0">
                <a:solidFill>
                  <a:srgbClr val="FF0000"/>
                </a:solidFill>
              </a:rPr>
              <a:t>(Parameters)  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  </a:t>
            </a:r>
          </a:p>
          <a:p>
            <a:pPr marL="0" indent="0">
              <a:buNone/>
            </a:pPr>
            <a:r>
              <a:rPr lang="en-IN" i="1" dirty="0">
                <a:solidFill>
                  <a:srgbClr val="FF0000"/>
                </a:solidFill>
              </a:rPr>
              <a:t>// statements</a:t>
            </a:r>
            <a:r>
              <a:rPr lang="en-IN" dirty="0">
                <a:solidFill>
                  <a:srgbClr val="FF0000"/>
                </a:solidFill>
              </a:rPr>
              <a:t>  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  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3. </a:t>
            </a:r>
            <a:r>
              <a:rPr lang="en-IN" b="1" dirty="0"/>
              <a:t>Function Initialization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FunctionName</a:t>
            </a:r>
            <a:r>
              <a:rPr lang="en-IN" dirty="0">
                <a:solidFill>
                  <a:srgbClr val="FF0000"/>
                </a:solidFill>
              </a:rPr>
              <a:t>(arguments);  </a:t>
            </a:r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862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6A8C-4853-4D1E-2CF1-3D9EEAFB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Advantage of function: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0E50-CA23-964D-DE2C-4D6908F36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It is utilized to reduce the length of the source code.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utilized to find errors easily.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utilized to call the block of code one or many times.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utilized to make the program more understandable.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204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89C0-5C95-3623-3A4B-D31CC3E4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Function: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D4AEE-84DF-8444-BE0D-CC8D3F80C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mainly two types of functions in C#.  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Built-in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User-define Function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204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56B25-4594-4EBB-CAED-299C482B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1.Built-in function: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4EFD5-3025-6DD5-05C8-788962735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C# language, the predefined functions are the built-in functions that are already created by the compiler. </a:t>
            </a:r>
          </a:p>
          <a:p>
            <a:r>
              <a:rPr lang="en-US" dirty="0"/>
              <a:t>It is also known as a library function. </a:t>
            </a:r>
          </a:p>
          <a:p>
            <a:r>
              <a:rPr lang="en-US" dirty="0"/>
              <a:t>There are several pre-defined functions, such as </a:t>
            </a:r>
            <a:r>
              <a:rPr lang="en-US" dirty="0" err="1"/>
              <a:t>Console.WriteLine</a:t>
            </a:r>
            <a:r>
              <a:rPr lang="en-US" dirty="0"/>
              <a:t>(), </a:t>
            </a:r>
            <a:r>
              <a:rPr lang="en-US" dirty="0" err="1"/>
              <a:t>Console.ReadLine</a:t>
            </a:r>
            <a:r>
              <a:rPr lang="en-US" dirty="0"/>
              <a:t>(), </a:t>
            </a:r>
            <a:r>
              <a:rPr lang="en-US" dirty="0" err="1"/>
              <a:t>Console.Clear</a:t>
            </a:r>
            <a:r>
              <a:rPr lang="en-US" dirty="0"/>
              <a:t>(), </a:t>
            </a:r>
            <a:r>
              <a:rPr lang="en-US" dirty="0" err="1"/>
              <a:t>Math.Abs</a:t>
            </a:r>
            <a:r>
              <a:rPr lang="en-US" dirty="0"/>
              <a:t>(),  </a:t>
            </a:r>
            <a:r>
              <a:rPr lang="en-US" dirty="0" err="1"/>
              <a:t>Math,Sqrt</a:t>
            </a:r>
            <a:r>
              <a:rPr lang="en-US" dirty="0"/>
              <a:t>(), </a:t>
            </a:r>
            <a:r>
              <a:rPr lang="en-US" dirty="0" err="1"/>
              <a:t>Math.Pow</a:t>
            </a:r>
            <a:r>
              <a:rPr lang="en-US" dirty="0"/>
              <a:t>(), </a:t>
            </a:r>
            <a:r>
              <a:rPr lang="en-US" dirty="0" err="1"/>
              <a:t>Math.Round</a:t>
            </a:r>
            <a:r>
              <a:rPr lang="en-US" dirty="0"/>
              <a:t>(),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74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B589-3474-9C36-BC98-7DE32506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D516-4654-C081-105F-241D6FB82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Syntax:</a:t>
            </a:r>
          </a:p>
          <a:p>
            <a:pPr marL="0" indent="0">
              <a:buNone/>
            </a:pPr>
            <a:r>
              <a:rPr lang="en-IN" b="1" dirty="0" err="1"/>
              <a:t>ClassName.MethodName</a:t>
            </a:r>
            <a:r>
              <a:rPr lang="en-IN" b="1" dirty="0"/>
              <a:t>(arguments);  </a:t>
            </a:r>
          </a:p>
          <a:p>
            <a:r>
              <a:rPr lang="en-IN" dirty="0"/>
              <a:t>Example: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26C5A-E153-BED3-7F71-95BCE0118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387" y="3429000"/>
            <a:ext cx="9862181" cy="202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03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B104-DCE8-60F5-3915-1D097330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2. User-defined function(UDF):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5B39F-87B2-F9F4-FCFF-8CDED6908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C# language, a user-defined function refers to a function that is created by the programmer to perform a specific operation.</a:t>
            </a:r>
          </a:p>
          <a:p>
            <a:r>
              <a:rPr lang="en-US" dirty="0"/>
              <a:t> We do not need any specific library or function to perform the task.</a:t>
            </a:r>
          </a:p>
          <a:p>
            <a:r>
              <a:rPr lang="en-US" dirty="0"/>
              <a:t> It is utilized to improve the code </a:t>
            </a:r>
            <a:r>
              <a:rPr lang="en-US" b="1" dirty="0"/>
              <a:t>reusability, readability, and maintainability.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60496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39F5-0299-7065-35FA-7F6C44CE6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Types of User-defined Function: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048C7-65AD-A1DD-F1E5-4BF9DF24D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387"/>
            <a:ext cx="10515600" cy="5144576"/>
          </a:xfrm>
        </p:spPr>
        <p:txBody>
          <a:bodyPr/>
          <a:lstStyle/>
          <a:p>
            <a:r>
              <a:rPr lang="en-US" dirty="0"/>
              <a:t>In C#, there are four types of user-defined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 with no Arguments and no return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 with Arguments and no return type.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 with no Arguments and with a return type.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with Arguments and with Return Type.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329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36A6-FFA8-0002-1D65-8ED4187E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/>
              <a:t>1.</a:t>
            </a:r>
            <a:r>
              <a:rPr lang="en-US" u="sng" dirty="0"/>
              <a:t> Function with no Arguments and no return type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BC93-5FD5-FD1A-A19D-F2A3AA407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/>
          <a:lstStyle/>
          <a:p>
            <a:r>
              <a:rPr lang="en-IN" dirty="0"/>
              <a:t>Syntax: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C1E4D-CA05-775B-AF9F-EB950070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3" y="2576393"/>
            <a:ext cx="10146890" cy="331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2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39C0-4F3F-52A1-1669-5490AD97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2.</a:t>
            </a:r>
            <a:r>
              <a:rPr lang="en-US" b="1" u="sng" dirty="0"/>
              <a:t> Function with Arguments and no return type:</a:t>
            </a:r>
            <a:endParaRPr lang="en-IN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F70CBF-A4FD-D319-33F6-F53F42F8D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627" y="1907459"/>
            <a:ext cx="8775562" cy="42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18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22EE-292D-D140-210B-4C6CDF05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u="sng" dirty="0"/>
              <a:t>3.</a:t>
            </a:r>
            <a:r>
              <a:rPr lang="en-US" u="sng" dirty="0"/>
              <a:t> Function with no Arguments and with Return Type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BA0985-E049-8C16-9079-BACABB570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671" y="2005781"/>
            <a:ext cx="6354647" cy="27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904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5E27-8955-9798-1479-46851ECA2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/>
              <a:t>4.</a:t>
            </a:r>
            <a:r>
              <a:rPr lang="en-US" u="sng" dirty="0"/>
              <a:t> Functions with Arguments and with Return Type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37F67B-E5FA-2E5E-8699-3C7A157E8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059" y="1573161"/>
            <a:ext cx="9056368" cy="306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87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9518-4311-9CA8-883C-CC831128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Function Parameter in C#:</a:t>
            </a:r>
            <a:br>
              <a:rPr lang="en-IN" b="1" u="sng" dirty="0"/>
            </a:b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68673-B01F-597F-9571-7CF1795BC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three types of function parameters in C#. These are as follows.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Pass-by value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Pass-by reference  (by using ref keyword)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Pass-by Pointer(by using out keyword)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8113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A489-E19C-4951-09DF-FB4CEBC1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1.Pass By Value: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E4E89-D5DA-1E38-B6BC-1E2BEFC5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4922"/>
            <a:ext cx="5677692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E731D8-8D21-52A1-5B93-5B25084F5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417" y="1247713"/>
            <a:ext cx="548716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43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A4C5-6418-E11B-9596-3121464F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2.Pass by reference: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B1CB08-4367-A299-A19A-9F9B7420A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7" y="1690688"/>
            <a:ext cx="7201905" cy="3400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5822AF-9DF7-D433-A063-0EC877DB4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311" y="1590418"/>
            <a:ext cx="6243689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258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A571-3641-919D-77C6-E335EB75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Anonymous Function: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5FD3-B40C-6602-F27D-F388F0452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</a:t>
            </a:r>
            <a:r>
              <a:rPr lang="en-US" dirty="0"/>
              <a:t>n the C# , an anonymous function is a type of function that does not have a name. </a:t>
            </a:r>
          </a:p>
          <a:p>
            <a:r>
              <a:rPr lang="en-US" dirty="0"/>
              <a:t>It was introduced in C# 2.0, which is very helpful when the user wants to define an inline anonymous method and pass a parameter to it,</a:t>
            </a:r>
          </a:p>
          <a:p>
            <a:r>
              <a:rPr lang="en-US" dirty="0"/>
              <a:t> just like with any regular method. </a:t>
            </a:r>
          </a:p>
          <a:p>
            <a:r>
              <a:rPr lang="en-US" dirty="0"/>
              <a:t>It is created by using the</a:t>
            </a:r>
            <a:r>
              <a:rPr lang="en-US" b="1" dirty="0">
                <a:solidFill>
                  <a:srgbClr val="FF0000"/>
                </a:solidFill>
              </a:rPr>
              <a:t> delegate keyword</a:t>
            </a:r>
            <a:r>
              <a:rPr lang="en-US" dirty="0"/>
              <a:t> and does </a:t>
            </a:r>
            <a:r>
              <a:rPr lang="en-US" b="1" dirty="0"/>
              <a:t>not require the name and return type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976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86F9-6E3E-5198-FEF6-E6B6729B7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787"/>
            <a:ext cx="10515600" cy="5813170"/>
          </a:xfrm>
        </p:spPr>
        <p:txBody>
          <a:bodyPr/>
          <a:lstStyle/>
          <a:p>
            <a:r>
              <a:rPr lang="en-US" dirty="0"/>
              <a:t>In C#, an anonymous method is a way to write the inline code without giving it a name. </a:t>
            </a:r>
          </a:p>
          <a:p>
            <a:r>
              <a:rPr lang="en-US" dirty="0"/>
              <a:t>It is similar to a lambda expression, but it allows us to skip the parameter when it is not required. </a:t>
            </a:r>
          </a:p>
          <a:p>
            <a:r>
              <a:rPr lang="en-US" dirty="0"/>
              <a:t>so, we can say that an anonymous method has only a body without a name, optional parameters, and a return type.</a:t>
            </a:r>
          </a:p>
          <a:p>
            <a:r>
              <a:rPr lang="en-US" b="1" dirty="0"/>
              <a:t>Syntax: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E16C32-835F-B9A6-B971-8E79824C26B9}"/>
              </a:ext>
            </a:extLst>
          </p:cNvPr>
          <p:cNvSpPr/>
          <p:nvPr/>
        </p:nvSpPr>
        <p:spPr>
          <a:xfrm>
            <a:off x="2025445" y="3716594"/>
            <a:ext cx="3883742" cy="2519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Delegate(</a:t>
            </a:r>
            <a:r>
              <a:rPr lang="en-IN" sz="2400" dirty="0" err="1"/>
              <a:t>parameter_list</a:t>
            </a:r>
            <a:r>
              <a:rPr lang="en-IN" sz="2400" dirty="0"/>
              <a:t>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//block of code</a:t>
            </a:r>
          </a:p>
          <a:p>
            <a:r>
              <a:rPr lang="en-IN" sz="2400" dirty="0"/>
              <a:t>}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6540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1F7A-E8B2-5D1D-6297-55D0A1A3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A1B76E-F840-F430-A9C5-048152E42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9124"/>
            <a:ext cx="6096851" cy="2562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1A63D3-D6E8-87D6-931E-7C37B62AB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39872"/>
            <a:ext cx="6296904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1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879B-3A6E-93FA-BABB-A9BB7EC9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901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 of an Anonymous Function: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9E20D-3AAA-7395-5FFD-11CCDCE41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97"/>
            <a:ext cx="10515600" cy="523306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 C#, an anonymous method is defined using the delegate keyword or =&gt; operator.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must be assigned to a delegate instance.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access variables and functions from the outer (enclosing) scope.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be passed as a parameter to methods that accept delegates.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be utilized as an event handler.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7921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0C0F-A629-EAC7-187D-BC5009131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B3EB-729B-E654-7C45-3F4DD8C8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/>
          <a:lstStyle/>
          <a:p>
            <a:r>
              <a:rPr lang="en-US" dirty="0"/>
              <a:t>In the C# programming language, an array is a collection of the same types of data items in a single variable. </a:t>
            </a:r>
          </a:p>
          <a:p>
            <a:r>
              <a:rPr lang="en-US" dirty="0"/>
              <a:t>It does not save any memory space.</a:t>
            </a:r>
          </a:p>
          <a:p>
            <a:r>
              <a:rPr lang="en-US" dirty="0"/>
              <a:t> It works on the basis of an index.</a:t>
            </a:r>
          </a:p>
          <a:p>
            <a:r>
              <a:rPr lang="en-US" dirty="0"/>
              <a:t>The array start index is 0, and the last element of the index is size n number.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6D78D1-0E30-C67E-DAE5-9EF69ACC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592491"/>
              </p:ext>
            </p:extLst>
          </p:nvPr>
        </p:nvGraphicFramePr>
        <p:xfrm>
          <a:off x="1343742" y="4731228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141525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0006565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4080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018880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93464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33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1398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91F2AF-C697-38AC-9E9C-6052F4A338EC}"/>
              </a:ext>
            </a:extLst>
          </p:cNvPr>
          <p:cNvSpPr/>
          <p:nvPr/>
        </p:nvSpPr>
        <p:spPr>
          <a:xfrm>
            <a:off x="245806" y="4837471"/>
            <a:ext cx="1012723" cy="70792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Array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2569DF-311D-A216-866F-FF2D1263DD72}"/>
              </a:ext>
            </a:extLst>
          </p:cNvPr>
          <p:cNvCxnSpPr/>
          <p:nvPr/>
        </p:nvCxnSpPr>
        <p:spPr>
          <a:xfrm flipH="1">
            <a:off x="9471742" y="4837471"/>
            <a:ext cx="272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1ED542-6E6C-E94B-5914-314ACA00B112}"/>
              </a:ext>
            </a:extLst>
          </p:cNvPr>
          <p:cNvCxnSpPr/>
          <p:nvPr/>
        </p:nvCxnSpPr>
        <p:spPr>
          <a:xfrm flipH="1">
            <a:off x="9494684" y="5225845"/>
            <a:ext cx="272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380F54-3743-3651-E173-E96A6FE19D75}"/>
              </a:ext>
            </a:extLst>
          </p:cNvPr>
          <p:cNvSpPr/>
          <p:nvPr/>
        </p:nvSpPr>
        <p:spPr>
          <a:xfrm>
            <a:off x="9766710" y="4731228"/>
            <a:ext cx="2179484" cy="29304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Element	</a:t>
            </a:r>
            <a:r>
              <a:rPr lang="en-IN" dirty="0"/>
              <a:t>	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9A59AF-E9DE-1903-9BD1-7F2E9607AC19}"/>
              </a:ext>
            </a:extLst>
          </p:cNvPr>
          <p:cNvSpPr/>
          <p:nvPr/>
        </p:nvSpPr>
        <p:spPr>
          <a:xfrm>
            <a:off x="9789652" y="5102068"/>
            <a:ext cx="2179484" cy="29304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570796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BF6D-2DB0-0EF3-7945-DDE81C12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8862D9-5F92-17D9-F305-985EAE752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705" y="1690688"/>
            <a:ext cx="9781424" cy="497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904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3877-E8E7-4AA8-2EFD-71C6ACA7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Advantages: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9163E-CD27-9A6C-F39B-0A8A1EC20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Code Optimization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Random Access of element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Easy to traverse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Easy to manipulate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Easy to sort data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9480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A063-FDC0-CC37-CD05-2CAECAB8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9DCB1-E819-4903-CF27-FDAE1CC9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Fixed size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Wastage of Memory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Lack of flexibility</a:t>
            </a:r>
          </a:p>
        </p:txBody>
      </p:sp>
    </p:spTree>
    <p:extLst>
      <p:ext uri="{BB962C8B-B14F-4D97-AF65-F5344CB8AC3E}">
        <p14:creationId xmlns:p14="http://schemas.microsoft.com/office/powerpoint/2010/main" val="2656346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E6C8-C05C-1658-CB1C-931A0E0E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How to declare an array: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29497-6090-9F92-E29F-FB821E7FF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 array is built by first defining the data type. </a:t>
            </a:r>
          </a:p>
          <a:p>
            <a:r>
              <a:rPr lang="en-US" dirty="0"/>
              <a:t> the array name and size, which are both surrounded in square brackets [].</a:t>
            </a:r>
          </a:p>
          <a:p>
            <a:r>
              <a:rPr lang="en-US" dirty="0"/>
              <a:t>Syntax: </a:t>
            </a:r>
            <a:r>
              <a:rPr lang="en-US" dirty="0" err="1"/>
              <a:t>data_type</a:t>
            </a:r>
            <a:r>
              <a:rPr lang="en-US" dirty="0"/>
              <a:t> </a:t>
            </a:r>
            <a:r>
              <a:rPr lang="en-US" dirty="0" err="1"/>
              <a:t>array_name</a:t>
            </a:r>
            <a:r>
              <a:rPr lang="en-US" dirty="0"/>
              <a:t> [size];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9757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38C6-71A2-8866-3AAD-C1DE5EF4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array:</a:t>
            </a:r>
            <a:r>
              <a:rPr lang="en-IN" dirty="0"/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E7432-9B3A-0AFE-3162-486B833E7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Initializing an array during declaration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sv-SE" b="1" dirty="0"/>
              <a:t>int rollno[5] = {1, 2, 3, 4, 5}; </a:t>
            </a:r>
            <a:r>
              <a:rPr lang="sv-SE" dirty="0"/>
              <a:t> </a:t>
            </a:r>
          </a:p>
          <a:p>
            <a:pPr marL="0" indent="0">
              <a:buNone/>
            </a:pPr>
            <a:endParaRPr lang="sv-SE" dirty="0"/>
          </a:p>
          <a:p>
            <a:pPr marL="514350" indent="-514350">
              <a:buAutoNum type="arabicPeriod" startAt="2"/>
            </a:pPr>
            <a:r>
              <a:rPr lang="en-IN" dirty="0"/>
              <a:t> Assigning values after declaration</a:t>
            </a:r>
          </a:p>
          <a:p>
            <a:pPr marL="457200" lvl="1" indent="0">
              <a:buNone/>
            </a:pPr>
            <a:r>
              <a:rPr lang="en-US" dirty="0"/>
              <a:t>int a[4]; </a:t>
            </a:r>
            <a:r>
              <a:rPr lang="en-US" i="1" dirty="0"/>
              <a:t>// declaration of an array</a:t>
            </a:r>
          </a:p>
          <a:p>
            <a:pPr marL="457200" lvl="1" indent="0">
              <a:buNone/>
            </a:pPr>
            <a:r>
              <a:rPr lang="en-US" dirty="0"/>
              <a:t>  </a:t>
            </a:r>
          </a:p>
          <a:p>
            <a:pPr marL="457200" lvl="1" indent="0">
              <a:buNone/>
            </a:pPr>
            <a:r>
              <a:rPr lang="en-US" i="1" dirty="0"/>
              <a:t>// Assigning values to each element</a:t>
            </a:r>
            <a:r>
              <a:rPr lang="en-US" dirty="0"/>
              <a:t>  </a:t>
            </a:r>
          </a:p>
          <a:p>
            <a:pPr marL="457200" lvl="1" indent="0">
              <a:buNone/>
            </a:pPr>
            <a:r>
              <a:rPr lang="en-US" dirty="0"/>
              <a:t>a[0] = 5;  </a:t>
            </a:r>
          </a:p>
          <a:p>
            <a:pPr marL="457200" lvl="1" indent="0">
              <a:buNone/>
            </a:pPr>
            <a:r>
              <a:rPr lang="en-US" dirty="0"/>
              <a:t>a[1] = 10;  </a:t>
            </a:r>
          </a:p>
          <a:p>
            <a:pPr marL="457200" lvl="1" indent="0">
              <a:buNone/>
            </a:pPr>
            <a:r>
              <a:rPr lang="en-US" dirty="0"/>
              <a:t>a[2] = 15;  </a:t>
            </a:r>
          </a:p>
          <a:p>
            <a:pPr marL="457200" lvl="1" indent="0">
              <a:buNone/>
            </a:pPr>
            <a:r>
              <a:rPr lang="en-US" dirty="0"/>
              <a:t>a[3] = 20;  </a:t>
            </a:r>
          </a:p>
          <a:p>
            <a:pPr marL="457200" lvl="1" indent="0">
              <a:buNone/>
            </a:pPr>
            <a:r>
              <a:rPr lang="en-US" dirty="0"/>
              <a:t>a[4] = 25;  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7358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B4D8-A5A0-FBFE-19B8-AF53BD7D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/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 Array Elements Example in C#: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A53C3-28D6-9996-C05F-083C68BBF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/>
          <a:lstStyle/>
          <a:p>
            <a:r>
              <a:rPr lang="en-US" dirty="0"/>
              <a:t>In the C# programming language, indexing is the process of accessing the element in an array by  the array name with the index number enclosed in square brackets ([]). </a:t>
            </a:r>
          </a:p>
          <a:p>
            <a:r>
              <a:rPr lang="en-US" dirty="0"/>
              <a:t>The first element of an index is 0, and the last element of an index is size n. </a:t>
            </a:r>
          </a:p>
          <a:p>
            <a:r>
              <a:rPr lang="en-US" dirty="0"/>
              <a:t>It enables us to direct access, retrieval, and modification of particular array elements.</a:t>
            </a:r>
          </a:p>
          <a:p>
            <a:r>
              <a:rPr lang="en-IN" dirty="0"/>
              <a:t>For Example:</a:t>
            </a:r>
          </a:p>
          <a:p>
            <a:pPr marL="457200" lvl="1" indent="0">
              <a:buNone/>
            </a:pPr>
            <a:r>
              <a:rPr lang="en-US" b="1" dirty="0" err="1"/>
              <a:t>name_of_the_array</a:t>
            </a:r>
            <a:r>
              <a:rPr lang="en-US" b="1" dirty="0"/>
              <a:t>[index]; </a:t>
            </a:r>
            <a:r>
              <a:rPr lang="en-US" dirty="0"/>
              <a:t> 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0916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1A751D-65F3-EC21-AEEA-2E78C3FB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41" y="793145"/>
            <a:ext cx="9419682" cy="61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803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3D7C-E4E3-F19C-0A77-FEFA260A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array: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B43A4-6FC2-6D6D-1919-5392791A5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6977503-FB1E-2C38-F9B8-0B8755C6678D}"/>
              </a:ext>
            </a:extLst>
          </p:cNvPr>
          <p:cNvSpPr/>
          <p:nvPr/>
        </p:nvSpPr>
        <p:spPr>
          <a:xfrm>
            <a:off x="4129548" y="1690688"/>
            <a:ext cx="3932903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Types Of Array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F80F2-0172-D617-D571-9642222D1BD0}"/>
              </a:ext>
            </a:extLst>
          </p:cNvPr>
          <p:cNvSpPr/>
          <p:nvPr/>
        </p:nvSpPr>
        <p:spPr>
          <a:xfrm>
            <a:off x="1484671" y="3933825"/>
            <a:ext cx="3283974" cy="628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Single-Dimension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95CDA3-4CC1-E2B2-AF5D-CC82ADDDA050}"/>
              </a:ext>
            </a:extLst>
          </p:cNvPr>
          <p:cNvSpPr/>
          <p:nvPr/>
        </p:nvSpPr>
        <p:spPr>
          <a:xfrm>
            <a:off x="7423355" y="3933825"/>
            <a:ext cx="3283974" cy="628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Multi-Dimensional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6B2B2C-FF0F-B957-8BE0-8C6151865794}"/>
              </a:ext>
            </a:extLst>
          </p:cNvPr>
          <p:cNvCxnSpPr/>
          <p:nvPr/>
        </p:nvCxnSpPr>
        <p:spPr>
          <a:xfrm flipH="1">
            <a:off x="3982065" y="2939845"/>
            <a:ext cx="1130709" cy="993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1DD3EA-B924-6C4C-2B65-350C7B7CA128}"/>
              </a:ext>
            </a:extLst>
          </p:cNvPr>
          <p:cNvCxnSpPr>
            <a:cxnSpLocks/>
          </p:cNvCxnSpPr>
          <p:nvPr/>
        </p:nvCxnSpPr>
        <p:spPr>
          <a:xfrm>
            <a:off x="6685935" y="2924175"/>
            <a:ext cx="2182762" cy="1009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9709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89C4-C027-402E-6224-E4657C9DA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1)Single-dimensional Array: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8F00F-77CD-4723-562E-792BCA6F3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C# programming language, a single-dimensional array is a type of array that can hold a fixed number of elements of the same type in a sequence.</a:t>
            </a:r>
          </a:p>
          <a:p>
            <a:r>
              <a:rPr lang="en-US" b="1" dirty="0"/>
              <a:t>Syntax: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type </a:t>
            </a:r>
            <a:r>
              <a:rPr lang="en-US" dirty="0" err="1"/>
              <a:t>arrayname</a:t>
            </a:r>
            <a:r>
              <a:rPr lang="en-US" dirty="0"/>
              <a:t> = </a:t>
            </a:r>
            <a:r>
              <a:rPr lang="en-US" b="1" dirty="0"/>
              <a:t>new</a:t>
            </a:r>
            <a:r>
              <a:rPr lang="en-US" dirty="0"/>
              <a:t> type [size];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7990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49EEF-0DA8-A718-5DA2-5DE2E32C0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452"/>
            <a:ext cx="10515600" cy="5734511"/>
          </a:xfrm>
        </p:spPr>
        <p:txBody>
          <a:bodyPr/>
          <a:lstStyle/>
          <a:p>
            <a:r>
              <a:rPr lang="en-IN" dirty="0"/>
              <a:t>Traversal Using foreach loop: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558980-527B-BE4E-67AB-1A9619FD947D}"/>
              </a:ext>
            </a:extLst>
          </p:cNvPr>
          <p:cNvSpPr/>
          <p:nvPr/>
        </p:nvSpPr>
        <p:spPr>
          <a:xfrm>
            <a:off x="2566219" y="1238865"/>
            <a:ext cx="7816646" cy="37854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 </a:t>
            </a:r>
          </a:p>
          <a:p>
            <a:r>
              <a:rPr lang="en-IN" dirty="0"/>
              <a:t>        string[] alphabets= { "A", "B", "C", "D" }; 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       </a:t>
            </a:r>
            <a:r>
              <a:rPr lang="en-IN" i="1" dirty="0"/>
              <a:t>// Traverse the array using foreach loop</a:t>
            </a:r>
            <a:r>
              <a:rPr lang="en-IN" dirty="0"/>
              <a:t>  </a:t>
            </a:r>
          </a:p>
          <a:p>
            <a:r>
              <a:rPr lang="en-IN" dirty="0"/>
              <a:t>        </a:t>
            </a:r>
            <a:r>
              <a:rPr lang="en-IN" dirty="0" err="1"/>
              <a:t>Console.WriteLine</a:t>
            </a:r>
            <a:r>
              <a:rPr lang="en-IN" dirty="0"/>
              <a:t>("The alphabet write here:");  </a:t>
            </a:r>
          </a:p>
          <a:p>
            <a:endParaRPr lang="en-IN" dirty="0"/>
          </a:p>
          <a:p>
            <a:r>
              <a:rPr lang="en-IN" dirty="0"/>
              <a:t>        foreach (string a1 in alphabet)  </a:t>
            </a:r>
          </a:p>
          <a:p>
            <a:r>
              <a:rPr lang="en-IN" dirty="0"/>
              <a:t>        {  </a:t>
            </a:r>
          </a:p>
          <a:p>
            <a:r>
              <a:rPr lang="en-IN" dirty="0"/>
              <a:t>            </a:t>
            </a:r>
            <a:r>
              <a:rPr lang="en-IN" dirty="0" err="1"/>
              <a:t>Console.WriteLine</a:t>
            </a:r>
            <a:r>
              <a:rPr lang="en-IN" dirty="0"/>
              <a:t>(a1);  </a:t>
            </a:r>
          </a:p>
          <a:p>
            <a:r>
              <a:rPr lang="en-IN" dirty="0"/>
              <a:t>        }  </a:t>
            </a:r>
          </a:p>
        </p:txBody>
      </p:sp>
    </p:spTree>
    <p:extLst>
      <p:ext uri="{BB962C8B-B14F-4D97-AF65-F5344CB8AC3E}">
        <p14:creationId xmlns:p14="http://schemas.microsoft.com/office/powerpoint/2010/main" val="10429450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9A47-3EAD-A219-4B75-73EC5F49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Multidimensional Array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9F779-047B-ED9C-78CE-81996C817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/>
          <a:lstStyle/>
          <a:p>
            <a:r>
              <a:rPr lang="en-US" dirty="0"/>
              <a:t>a multidimensional array is an array of arrays that contains more than one array as its elements. </a:t>
            </a:r>
          </a:p>
          <a:p>
            <a:r>
              <a:rPr lang="en-US" dirty="0"/>
              <a:t>It is a set of items where the elements are accessed using multiple indices.</a:t>
            </a:r>
          </a:p>
          <a:p>
            <a:r>
              <a:rPr lang="en-IN" b="1" dirty="0"/>
              <a:t>Syntax:</a:t>
            </a:r>
          </a:p>
          <a:p>
            <a:pPr marL="457200" lvl="1" indent="0">
              <a:buNone/>
            </a:pPr>
            <a:r>
              <a:rPr lang="en-IN" dirty="0" err="1"/>
              <a:t>data_type</a:t>
            </a:r>
            <a:r>
              <a:rPr lang="en-IN" dirty="0"/>
              <a:t>[,] array2D;  </a:t>
            </a:r>
          </a:p>
          <a:p>
            <a:pPr marL="457200" lvl="1" indent="0">
              <a:buNone/>
            </a:pPr>
            <a:r>
              <a:rPr lang="en-IN" dirty="0" err="1"/>
              <a:t>data_type</a:t>
            </a:r>
            <a:r>
              <a:rPr lang="en-IN" dirty="0"/>
              <a:t>[,,] array3D;  </a:t>
            </a:r>
          </a:p>
        </p:txBody>
      </p:sp>
    </p:spTree>
    <p:extLst>
      <p:ext uri="{BB962C8B-B14F-4D97-AF65-F5344CB8AC3E}">
        <p14:creationId xmlns:p14="http://schemas.microsoft.com/office/powerpoint/2010/main" val="3262410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5463847-7804-237F-550F-EF3ECEFFC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825" y="522780"/>
            <a:ext cx="1933845" cy="2486372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99F6D8BA-9A3F-AE6C-EB8E-D8D9EB43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78" y="522780"/>
            <a:ext cx="1933845" cy="2486372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1FE7D33F-5319-83E9-C22F-069B6655A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932" y="675180"/>
            <a:ext cx="1933845" cy="2486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A616E5-A76A-16CF-23AA-232159DC58BD}"/>
              </a:ext>
            </a:extLst>
          </p:cNvPr>
          <p:cNvSpPr txBox="1"/>
          <p:nvPr/>
        </p:nvSpPr>
        <p:spPr>
          <a:xfrm>
            <a:off x="1366700" y="3345115"/>
            <a:ext cx="19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  <a:r>
              <a:rPr lang="en-IN" baseline="30000" dirty="0"/>
              <a:t>th</a:t>
            </a:r>
            <a:r>
              <a:rPr lang="en-IN" dirty="0"/>
              <a:t> position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89877-21DD-D257-DBD3-6C4ABBD57A34}"/>
              </a:ext>
            </a:extLst>
          </p:cNvPr>
          <p:cNvSpPr txBox="1"/>
          <p:nvPr/>
        </p:nvSpPr>
        <p:spPr>
          <a:xfrm>
            <a:off x="5052878" y="3345115"/>
            <a:ext cx="2172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1st position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70D79B-438D-DE1A-6CCF-3C3528727C32}"/>
              </a:ext>
            </a:extLst>
          </p:cNvPr>
          <p:cNvSpPr txBox="1"/>
          <p:nvPr/>
        </p:nvSpPr>
        <p:spPr>
          <a:xfrm>
            <a:off x="8583561" y="3345115"/>
            <a:ext cx="2361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2nd position matrix</a:t>
            </a:r>
          </a:p>
        </p:txBody>
      </p:sp>
    </p:spTree>
    <p:extLst>
      <p:ext uri="{BB962C8B-B14F-4D97-AF65-F5344CB8AC3E}">
        <p14:creationId xmlns:p14="http://schemas.microsoft.com/office/powerpoint/2010/main" val="221573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27F0-F426-58A7-C909-4E9EE73B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94FEBE-0C80-3FF4-FE6F-ACA1C6E54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96181"/>
            <a:ext cx="7871283" cy="546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086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C29E-77FF-5B68-A85F-F9A6A095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09CA-40EA-5F7F-9651-28A428571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672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3098</Words>
  <Application>Microsoft Office PowerPoint</Application>
  <PresentationFormat>Widescreen</PresentationFormat>
  <Paragraphs>418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Wingdings</vt:lpstr>
      <vt:lpstr>Office Theme</vt:lpstr>
      <vt:lpstr>Unit-1</vt:lpstr>
      <vt:lpstr>Introduction:</vt:lpstr>
      <vt:lpstr>PowerPoint Presentation</vt:lpstr>
      <vt:lpstr>Features of C#:</vt:lpstr>
      <vt:lpstr>PowerPoint Presentation</vt:lpstr>
      <vt:lpstr>PowerPoint Presentation</vt:lpstr>
      <vt:lpstr>PowerPoint Presentation</vt:lpstr>
      <vt:lpstr>Structure of C# program:</vt:lpstr>
      <vt:lpstr>Datatypes in C#:</vt:lpstr>
      <vt:lpstr>Datatype with memory size:</vt:lpstr>
      <vt:lpstr>Type System in C#:</vt:lpstr>
      <vt:lpstr>PowerPoint Presentation</vt:lpstr>
      <vt:lpstr>PowerPoint Presentation</vt:lpstr>
      <vt:lpstr>PowerPoint Presentation</vt:lpstr>
      <vt:lpstr>Value type v/s Reference type:</vt:lpstr>
      <vt:lpstr>Boxing &amp; Unboxing:</vt:lpstr>
      <vt:lpstr>Constant:</vt:lpstr>
      <vt:lpstr>PowerPoint Presentation</vt:lpstr>
      <vt:lpstr>Conditional Statement:</vt:lpstr>
      <vt:lpstr>Syntax of conditional statement:</vt:lpstr>
      <vt:lpstr>Looping Structure:</vt:lpstr>
      <vt:lpstr>Syntax of looping statement:</vt:lpstr>
      <vt:lpstr>For example:</vt:lpstr>
      <vt:lpstr>Break Statement:</vt:lpstr>
      <vt:lpstr>PowerPoint Presentation</vt:lpstr>
      <vt:lpstr>Continue Statement:</vt:lpstr>
      <vt:lpstr>Syntax: </vt:lpstr>
      <vt:lpstr>Example:</vt:lpstr>
      <vt:lpstr>Goto Statement:</vt:lpstr>
      <vt:lpstr>Example:</vt:lpstr>
      <vt:lpstr>Function:</vt:lpstr>
      <vt:lpstr>Syntax:</vt:lpstr>
      <vt:lpstr>Example:</vt:lpstr>
      <vt:lpstr>PowerPoint Presentation</vt:lpstr>
      <vt:lpstr>Advantage of function:</vt:lpstr>
      <vt:lpstr>Types of Function:</vt:lpstr>
      <vt:lpstr>1.Built-in function:</vt:lpstr>
      <vt:lpstr>PowerPoint Presentation</vt:lpstr>
      <vt:lpstr>2. User-defined function(UDF):</vt:lpstr>
      <vt:lpstr>Types of User-defined Function: </vt:lpstr>
      <vt:lpstr>1. Function with no Arguments and no return type </vt:lpstr>
      <vt:lpstr>2. Function with Arguments and no return type:</vt:lpstr>
      <vt:lpstr>3. Function with no Arguments and with Return Type</vt:lpstr>
      <vt:lpstr>4. Functions with Arguments and with Return Type </vt:lpstr>
      <vt:lpstr>Function Parameter in C#: </vt:lpstr>
      <vt:lpstr>1.Pass By Value:</vt:lpstr>
      <vt:lpstr>2.Pass by reference:</vt:lpstr>
      <vt:lpstr>Anonymous Function:</vt:lpstr>
      <vt:lpstr>PowerPoint Presentation</vt:lpstr>
      <vt:lpstr>For Example:</vt:lpstr>
      <vt:lpstr>Features of an Anonymous Function: </vt:lpstr>
      <vt:lpstr>Arrays:</vt:lpstr>
      <vt:lpstr>For Example:</vt:lpstr>
      <vt:lpstr>Advantages:</vt:lpstr>
      <vt:lpstr>Disadvantages:</vt:lpstr>
      <vt:lpstr>How to declare an array:</vt:lpstr>
      <vt:lpstr>Initializing array:  </vt:lpstr>
      <vt:lpstr>Accessing Array Elements Example in C#: </vt:lpstr>
      <vt:lpstr>PowerPoint Presentation</vt:lpstr>
      <vt:lpstr>Types of array:</vt:lpstr>
      <vt:lpstr>1)Single-dimensional Array:</vt:lpstr>
      <vt:lpstr>PowerPoint Presentation</vt:lpstr>
      <vt:lpstr>2) Multidimensional Array </vt:lpstr>
      <vt:lpstr>PowerPoint Presentation</vt:lpstr>
      <vt:lpstr>For example: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darshana_makani@outlook.com</dc:creator>
  <cp:lastModifiedBy>darshana_makani@outlook.com</cp:lastModifiedBy>
  <cp:revision>45</cp:revision>
  <dcterms:created xsi:type="dcterms:W3CDTF">2026-01-18T16:17:51Z</dcterms:created>
  <dcterms:modified xsi:type="dcterms:W3CDTF">2026-02-04T10:11:27Z</dcterms:modified>
</cp:coreProperties>
</file>